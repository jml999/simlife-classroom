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3f9eb588404c30" /><Relationship Type="http://schemas.openxmlformats.org/officeDocument/2006/relationships/extended-properties" Target="/docProps/app.xml" Id="R3620785fe5554aac" /><Relationship Type="http://schemas.openxmlformats.org/officeDocument/2006/relationships/officeDocument" Target="/ppt/presentation.xml" Id="R58e191c32dcd4827" /></Relationships>
</file>

<file path=ppt/presentation.xml><?xml version="1.0" encoding="utf-8"?>
<p:presentation xmlns:p="http://schemas.openxmlformats.org/presentationml/2006/main">
  <p:sldMasterIdLst>
    <p:sldMasterId xmlns:r="http://schemas.openxmlformats.org/officeDocument/2006/relationships" id="2147483648" r:id="R0ef058fca9884a77"/>
  </p:sldMasterIdLst>
  <p:notesMasterIdLst>
    <p:notesMasterId xmlns:r="http://schemas.openxmlformats.org/officeDocument/2006/relationships" r:id="R32e95d3c5cf1421e"/>
  </p:notesMasterIdLst>
  <p:sldIdLst>
    <p:sldId xmlns:r="http://schemas.openxmlformats.org/officeDocument/2006/relationships" id="256" r:id="Ra570fb1e6c19456a"/>
    <p:sldId xmlns:r="http://schemas.openxmlformats.org/officeDocument/2006/relationships" id="257" r:id="R01c4e2b6f4b64465"/>
    <p:sldId xmlns:r="http://schemas.openxmlformats.org/officeDocument/2006/relationships" id="258" r:id="R809c267f8ec145eb"/>
    <p:sldId xmlns:r="http://schemas.openxmlformats.org/officeDocument/2006/relationships" id="259" r:id="Rfdad04ab1b1343bb"/>
    <p:sldId xmlns:r="http://schemas.openxmlformats.org/officeDocument/2006/relationships" id="260" r:id="Rf2dc0ba6cb994a37"/>
    <p:sldId xmlns:r="http://schemas.openxmlformats.org/officeDocument/2006/relationships" id="261" r:id="R54951a412b2249d9"/>
    <p:sldId xmlns:r="http://schemas.openxmlformats.org/officeDocument/2006/relationships" id="262" r:id="R069fb44d633b408e"/>
    <p:sldId xmlns:r="http://schemas.openxmlformats.org/officeDocument/2006/relationships" id="263" r:id="R1f52f3d564b54c5e"/>
    <p:sldId xmlns:r="http://schemas.openxmlformats.org/officeDocument/2006/relationships" id="264" r:id="R9f83001a9edf44c9"/>
    <p:sldId xmlns:r="http://schemas.openxmlformats.org/officeDocument/2006/relationships" id="265" r:id="Rff0bb9324f5740f1"/>
    <p:sldId xmlns:r="http://schemas.openxmlformats.org/officeDocument/2006/relationships" id="266" r:id="Rcf66c546ef6f4456"/>
    <p:sldId xmlns:r="http://schemas.openxmlformats.org/officeDocument/2006/relationships" id="267" r:id="R11c3da9166334c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edef1707d74e5e" /><Relationship Type="http://schemas.openxmlformats.org/officeDocument/2006/relationships/slideMaster" Target="/ppt/slideMasters/slideMaster1.xml" Id="R0ef058fca9884a77" /><Relationship Type="http://schemas.openxmlformats.org/officeDocument/2006/relationships/notesMaster" Target="/ppt/notesMasters/notesMaster1.xml" Id="R32e95d3c5cf1421e" /><Relationship Type="http://schemas.openxmlformats.org/officeDocument/2006/relationships/presProps" Target="/ppt/presProps.xml" Id="R78e6c087c32e4fff" /><Relationship Type="http://schemas.openxmlformats.org/officeDocument/2006/relationships/tableStyles" Target="/ppt/tableStyles.xml" Id="R39530da30e0e4b89" /><Relationship Type="http://schemas.openxmlformats.org/officeDocument/2006/relationships/slide" Target="/ppt/slides/slide1.xml" Id="Ra570fb1e6c19456a" /><Relationship Type="http://schemas.openxmlformats.org/officeDocument/2006/relationships/slide" Target="/ppt/slides/slide2.xml" Id="R01c4e2b6f4b64465" /><Relationship Type="http://schemas.openxmlformats.org/officeDocument/2006/relationships/slide" Target="/ppt/slides/slide3.xml" Id="R809c267f8ec145eb" /><Relationship Type="http://schemas.openxmlformats.org/officeDocument/2006/relationships/slide" Target="/ppt/slides/slide4.xml" Id="Rfdad04ab1b1343bb" /><Relationship Type="http://schemas.openxmlformats.org/officeDocument/2006/relationships/slide" Target="/ppt/slides/slide5.xml" Id="Rf2dc0ba6cb994a37" /><Relationship Type="http://schemas.openxmlformats.org/officeDocument/2006/relationships/slide" Target="/ppt/slides/slide6.xml" Id="R54951a412b2249d9" /><Relationship Type="http://schemas.openxmlformats.org/officeDocument/2006/relationships/slide" Target="/ppt/slides/slide7.xml" Id="R069fb44d633b408e" /><Relationship Type="http://schemas.openxmlformats.org/officeDocument/2006/relationships/slide" Target="/ppt/slides/slide8.xml" Id="R1f52f3d564b54c5e" /><Relationship Type="http://schemas.openxmlformats.org/officeDocument/2006/relationships/slide" Target="/ppt/slides/slide9.xml" Id="R9f83001a9edf44c9" /><Relationship Type="http://schemas.openxmlformats.org/officeDocument/2006/relationships/slide" Target="/ppt/slides/slide10.xml" Id="Rff0bb9324f5740f1" /><Relationship Type="http://schemas.openxmlformats.org/officeDocument/2006/relationships/slide" Target="/ppt/slides/slide11.xml" Id="Rcf66c546ef6f4456" /><Relationship Type="http://schemas.openxmlformats.org/officeDocument/2006/relationships/slide" Target="/ppt/slides/slide12.xml" Id="R11c3da9166334c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7b4f0246044d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3ab18fc19846a5" /><Relationship Type="http://schemas.openxmlformats.org/officeDocument/2006/relationships/notesMaster" Target="/ppt/notesMasters/notesMaster1.xml" Id="Rf211211d01df49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62f809fb3b43fa" /><Relationship Type="http://schemas.openxmlformats.org/officeDocument/2006/relationships/notesMaster" Target="/ppt/notesMasters/notesMaster1.xml" Id="Rc7ce12c2b4914d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1ca177584745a5" /><Relationship Type="http://schemas.openxmlformats.org/officeDocument/2006/relationships/notesMaster" Target="/ppt/notesMasters/notesMaster1.xml" Id="Rcea88afe86ad49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0460bf318a4e13" /><Relationship Type="http://schemas.openxmlformats.org/officeDocument/2006/relationships/notesMaster" Target="/ppt/notesMasters/notesMaster1.xml" Id="R7767868a177d45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ea646091264a99" /><Relationship Type="http://schemas.openxmlformats.org/officeDocument/2006/relationships/notesMaster" Target="/ppt/notesMasters/notesMaster1.xml" Id="R0ea7156428c644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d0d3aec3314266" /><Relationship Type="http://schemas.openxmlformats.org/officeDocument/2006/relationships/notesMaster" Target="/ppt/notesMasters/notesMaster1.xml" Id="Rc5f6d36722be41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8ccbe8b23a4658" /><Relationship Type="http://schemas.openxmlformats.org/officeDocument/2006/relationships/notesMaster" Target="/ppt/notesMasters/notesMaster1.xml" Id="R7369574ce8db48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423789598a4e1a" /><Relationship Type="http://schemas.openxmlformats.org/officeDocument/2006/relationships/notesMaster" Target="/ppt/notesMasters/notesMaster1.xml" Id="R3a725de3df8a44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9a1efb9b7b45ee" /><Relationship Type="http://schemas.openxmlformats.org/officeDocument/2006/relationships/notesMaster" Target="/ppt/notesMasters/notesMaster1.xml" Id="R83ae4786e5be4b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2ca75501a94f3e" /><Relationship Type="http://schemas.openxmlformats.org/officeDocument/2006/relationships/notesMaster" Target="/ppt/notesMasters/notesMaster1.xml" Id="Redb81a5d971d43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3e1b55b4d042a5" /><Relationship Type="http://schemas.openxmlformats.org/officeDocument/2006/relationships/notesMaster" Target="/ppt/notesMasters/notesMaster1.xml" Id="R46f18e0e38dd4a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2391e32db24588" /><Relationship Type="http://schemas.openxmlformats.org/officeDocument/2006/relationships/notesMaster" Target="/ppt/notesMasters/notesMaster1.xml" Id="Rae4ee61d9e9441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prompt: Which part of your current portfolio would be hurt if one company or one type of company struggled? Let students answer without assuming a right ticker.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“exchange traded fund.” Emphasize ownership of fund shares rather than direct ownership of each security. A fund can be broad or narrow.</a:t>
            </a:r>
          </a:p>
          <a:p xmlns:a="http://schemas.openxmlformats.org/drawingml/2006/main">
            <a:r>
              <a:t/>
            </a:r>
          </a:p>
          <a:p xmlns:a="http://schemas.openxmlformats.org/drawingml/2006/main">
            <a:r>
              <a:t>Sources:</a:t>
            </a:r>
          </a:p>
          <a:p xmlns:a="http://schemas.openxmlformats.org/drawingml/2006/main">
            <a:r>
              <a:t>https://www.investor.gov/introduction-investing/general-resources/news-alerts/alerts-bulletins/investor-bulletins-24</a:t>
            </a:r>
          </a:p>
          <a:p xmlns:a="http://schemas.openxmlformats.org/drawingml/2006/main">
            <a:r>
              <a:t>https://www.investor.gov/introduction-investing/general-resources/news-alerts/alerts-bulletins/characteristics-mutual-funds-exchange-traded-funds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happens to AAPL if Apple has a bad year? What happens to VTI if Apple has a bad year? Do not promise that a broad ETF cannot lose money. VTI details are based on the local SimLife catalog; verify fund details on issuer site before any real-money use.</a:t>
            </a:r>
          </a:p>
          <a:p xmlns:a="http://schemas.openxmlformats.org/drawingml/2006/main">
            <a:r>
              <a:t/>
            </a:r>
          </a:p>
          <a:p xmlns:a="http://schemas.openxmlformats.org/drawingml/2006/main">
            <a:r>
              <a:t>Sources:</a:t>
            </a:r>
          </a:p>
          <a:p xmlns:a="http://schemas.openxmlformats.org/drawingml/2006/main">
            <a:r>
              <a:t>https://www.investor.gov/introduction-investing/general-resources/news-alerts/alerts-bulletins/investor-bulletins-24</a:t>
            </a:r>
          </a:p>
          <a:p xmlns:a="http://schemas.openxmlformats.org/drawingml/2006/main">
            <a:r>
              <a:t>https://www.investor.gov/introduction-investing/getting-started/asset-allocation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descriptions follow the SimLife ETF directory as audited September 2026. Ask which funds can fill a broad gap and which are concentrated. Stress that the ETF wrapper alone does not guarantee diversification.</a:t>
            </a:r>
          </a:p>
          <a:p xmlns:a="http://schemas.openxmlformats.org/drawingml/2006/main">
            <a:r>
              <a:t/>
            </a:r>
          </a:p>
          <a:p xmlns:a="http://schemas.openxmlformats.org/drawingml/2006/main">
            <a:r>
              <a:t>Sources:</a:t>
            </a:r>
          </a:p>
          <a:p xmlns:a="http://schemas.openxmlformats.org/drawingml/2006/main">
            <a:r>
              <a:t>https://www.investor.gov/introduction-investing/general-resources/news-alerts/alerts-bulletins/characteristics-mutual-funds-exchange-traded-funds</a:t>
            </a:r>
          </a:p>
          <a:p xmlns:a="http://schemas.openxmlformats.org/drawingml/2006/main">
            <a:r>
              <a:t>https://www.investor.gov/introduction-investing/getting-started/asset-allocation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in a test account. Search the ticker and show the quote, then buy only if classroom demo funds are available. The app supports fractional share purchases. Do not imply that a delayed quote is a guaranteed execution price.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current issuer fund page or prospectus. Expense ratios can change, so the deck intentionally omits fixed fee figures. Mention that bid-ask spreads and brokerage trading costs can also matter outside this simulation.</a:t>
            </a:r>
          </a:p>
          <a:p xmlns:a="http://schemas.openxmlformats.org/drawingml/2006/main">
            <a:r>
              <a:t/>
            </a:r>
          </a:p>
          <a:p xmlns:a="http://schemas.openxmlformats.org/drawingml/2006/main">
            <a:r>
              <a:t>Sources:</a:t>
            </a:r>
          </a:p>
          <a:p xmlns:a="http://schemas.openxmlformats.org/drawingml/2006/main">
            <a:r>
              <a:t>https://www.investor.gov/introduction-investing/general-resources/news-alerts/alerts-bulletins/investor-bulletins-24</a:t>
            </a:r>
          </a:p>
          <a:p xmlns:a="http://schemas.openxmlformats.org/drawingml/2006/main">
            <a:r>
              <a:t>https://www.investor.gov/introduction-investing/general-resources/news-alerts/alerts-bulletins/investor-bulletins/mutual-fund-and-etf-fees-and-expenses-investor-bulletin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examples for discussion, not prescriptions. A student might choose a different broad ETF if they can explain the fit and tradeoff. Bond ETFs have interest rate and credit risks. International stocks carry currency and market risks.</a:t>
            </a:r>
          </a:p>
          <a:p xmlns:a="http://schemas.openxmlformats.org/drawingml/2006/main">
            <a:r>
              <a:t/>
            </a:r>
          </a:p>
          <a:p xmlns:a="http://schemas.openxmlformats.org/drawingml/2006/main">
            <a:r>
              <a:t>Sources:</a:t>
            </a:r>
          </a:p>
          <a:p xmlns:a="http://schemas.openxmlformats.org/drawingml/2006/main">
            <a:r>
              <a:t>https://www.investor.gov/introduction-investing/getting-started/asset-allocation</a:t>
            </a:r>
          </a:p>
          <a:p xmlns:a="http://schemas.openxmlformats.org/drawingml/2006/main">
            <a:r>
              <a:t>https://www.investor.gov/introduction-investing/general-resources/news-alerts/alerts-bulletins/investor-bulletins-24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QQQ is a non-financial Nasdaq fund and the SimLife directory marks it as tilted toward technology. Use this as a qualitative overlap example rather than exact portfolio-weight arithmetic. Funds can overlap even when their names differ.</a:t>
            </a:r>
          </a:p>
          <a:p xmlns:a="http://schemas.openxmlformats.org/drawingml/2006/main">
            <a:r>
              <a:t/>
            </a:r>
          </a:p>
          <a:p xmlns:a="http://schemas.openxmlformats.org/drawingml/2006/main">
            <a:r>
              <a:t>Sources:</a:t>
            </a:r>
          </a:p>
          <a:p xmlns:a="http://schemas.openxmlformats.org/drawingml/2006/main">
            <a:r>
              <a:t>https://www.investor.gov/introduction-investing/getting-started/asset-allocation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Which fits the stated gap better? If the gap is geographic, VXUS is the clearer explanation. If the goal is broad U.S. coverage, VTI may fit. Check current fund pages for holdings and costs; do not imply one is universally best.</a:t>
            </a:r>
          </a:p>
          <a:p xmlns:a="http://schemas.openxmlformats.org/drawingml/2006/main">
            <a:r>
              <a:t/>
            </a:r>
          </a:p>
          <a:p xmlns:a="http://schemas.openxmlformats.org/drawingml/2006/main">
            <a:r>
              <a:t>Sources:</a:t>
            </a:r>
          </a:p>
          <a:p xmlns:a="http://schemas.openxmlformats.org/drawingml/2006/main">
            <a:r>
              <a:t>https://www.investor.gov/introduction-investing/getting-started/asset-allocation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checks current holdings for a broad stock or bond ETF. Students choose one held fund and enter a second ETF they researched. No fixed spending minimum and no requirement to preserve Module 2 holdings. Sector, thematic, commodity, and crypto single-asset ETFs do not satisfy the broad fund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answer only. Students should use their own actual portfolio and fund research. Ask the class to identify the gap, comparison, decision, and remaining risk. Do not grade on agreement with one ticker.</a:t>
            </a:r>
          </a:p>
          <a:p xmlns:a="http://schemas.openxmlformats.org/drawingml/2006/main">
            <a:r>
              <a:t/>
            </a:r>
          </a:p>
          <a:p xmlns:a="http://schemas.openxmlformats.org/drawingml/2006/main">
            <a:r>
              <a:t>Sources:</a:t>
            </a:r>
          </a:p>
          <a:p xmlns:a="http://schemas.openxmlformats.org/drawingml/2006/main">
            <a:r>
              <a:t>https://www.investor.gov/introduction-investing/getting-started/asset-allocation</a:t>
            </a:r>
          </a:p>
          <a:p xmlns:a="http://schemas.openxmlformats.org/drawingml/2006/main">
            <a:r>
              <a:t>https://www.investor.gov/introduction-investing/general-resources/news-alerts/alerts-bulletins/investor-bulletins/mutual-fund-and-etf-fees-and-expenses-investor-bulletin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responses before independent work. Ask students to name a concrete holding or sector in their current portfolio. Teacher can publish the saved draft from Teacher → Class when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0484ba8bb041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89bd9b4cf04170" /><Relationship Type="http://schemas.openxmlformats.org/officeDocument/2006/relationships/slideLayout" Target="/ppt/slideLayouts/slideLayout1.xml" Id="Re0087b03fe5a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087b03fe5a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fb741aeb264e51" /><Relationship Type="http://schemas.openxmlformats.org/officeDocument/2006/relationships/notesSlide" Target="/ppt/notesSlides/notesSlide1.xml" Id="R20f1ebb2f2354f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aec30ee6614999" /><Relationship Type="http://schemas.openxmlformats.org/officeDocument/2006/relationships/notesSlide" Target="/ppt/notesSlides/notesSlide2.xml" Id="Rf9d8a23937e943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45429ab2ed4f12" /><Relationship Type="http://schemas.openxmlformats.org/officeDocument/2006/relationships/notesSlide" Target="/ppt/notesSlides/notesSlide3.xml" Id="Rccd743f41d9a45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0eb7fea8964e73" /><Relationship Type="http://schemas.openxmlformats.org/officeDocument/2006/relationships/notesSlide" Target="/ppt/notesSlides/notesSlide4.xml" Id="Raf7bb520568e4f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3765c82e4d483e" /><Relationship Type="http://schemas.openxmlformats.org/officeDocument/2006/relationships/notesSlide" Target="/ppt/notesSlides/notesSlide5.xml" Id="R089587474c9c43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80d4ff38964146" /><Relationship Type="http://schemas.openxmlformats.org/officeDocument/2006/relationships/notesSlide" Target="/ppt/notesSlides/notesSlide6.xml" Id="R733c4f064b7b4c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e7793dcc0f497f" /><Relationship Type="http://schemas.openxmlformats.org/officeDocument/2006/relationships/notesSlide" Target="/ppt/notesSlides/notesSlide7.xml" Id="R87be615fc72d41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67212de4c243dc" /><Relationship Type="http://schemas.openxmlformats.org/officeDocument/2006/relationships/notesSlide" Target="/ppt/notesSlides/notesSlide8.xml" Id="R4aefec6c5cea45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4cf238a8274ac0" /><Relationship Type="http://schemas.openxmlformats.org/officeDocument/2006/relationships/notesSlide" Target="/ppt/notesSlides/notesSlide9.xml" Id="Rcebb58bd61974d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a222722f434a97" /><Relationship Type="http://schemas.openxmlformats.org/officeDocument/2006/relationships/notesSlide" Target="/ppt/notesSlides/notesSlide10.xml" Id="Ra44b0788f4ce4a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d464581ff846b5" /><Relationship Type="http://schemas.openxmlformats.org/officeDocument/2006/relationships/notesSlide" Target="/ppt/notesSlides/notesSlide11.xml" Id="R5c9be829a6d84d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047b8e065346cf" /><Relationship Type="http://schemas.openxmlformats.org/officeDocument/2006/relationships/notesSlide" Target="/ppt/notesSlides/notesSlide12.xml" Id="Ra9afa994d44140d7" /></Relationships>
</file>

<file path=ppt/slides/slide1.xml><?xml version="1.0" encoding="utf-8"?>
<p:sld xmlns:p="http://schemas.openxmlformats.org/presentationml/2006/main">
  <p:cSld>
    <p:bg>
      <p:bgPr>
        <a:solidFill xmlns:a="http://schemas.openxmlformats.org/drawingml/2006/main">
          <a:srgbClr val="555B3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6B39D3-3AEF-4A64-A5EF-076E4F4E420F}"/>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8EBDF"/>
                </a:solidFill>
                <a:latin typeface="Arial"/>
                <a:ea typeface="Arial"/>
                <a:cs typeface="Arial"/>
              </a:defRPr>
            </a:pPr>
            <a:r>
              <a:rPr sz="1275" b="1">
                <a:solidFill>
                  <a:srgbClr val="E8EBDF"/>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AC676FF8-8CBD-4827-B1DD-77BD4BF61C99}"/>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Georgia"/>
                <a:ea typeface="Georgia"/>
                <a:cs typeface="Georgia"/>
              </a:defRPr>
            </a:pPr>
            <a:r>
              <a:rPr sz="5100" b="1">
                <a:solidFill>
                  <a:srgbClr val="FFFFFF"/>
                </a:solidFill>
                <a:latin typeface="Georgia"/>
                <a:ea typeface="Georgia"/>
                <a:cs typeface="Georgia"/>
              </a:rPr>
              <a:t>One ticker can hold a basket</a:t>
            </a:r>
          </a:p>
        </p:txBody>
      </p:sp>
      <p:sp>
        <p:nvSpPr>
          <p:cNvPr id="3" name="">
            <a:extLst xmlns:a="http://schemas.openxmlformats.org/drawingml/2006/main">
              <a:ext uri="{FF2B5EF4-FFF2-40B4-BE49-F238E27FC236}">
                <a16:creationId xmlns:a16="http://schemas.microsoft.com/office/drawing/2014/main" id="{7D018B78-595F-482F-BC77-2A09281F983C}"/>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8EBDF"/>
                </a:solidFill>
                <a:latin typeface="Arial"/>
                <a:ea typeface="Arial"/>
                <a:cs typeface="Arial"/>
              </a:defRPr>
            </a:pPr>
            <a:r>
              <a:rPr sz="1200" b="1">
                <a:solidFill>
                  <a:srgbClr val="E8EBD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78FDDC6-B9E3-49C2-8A76-F9E47F994A2F}"/>
              </a:ext>
            </a:extLst>
          </p:cNvPr>
          <p:cNvSpPr>
            <a:spLocks xmlns:a="http://schemas.openxmlformats.org/drawingml/2006/main" noGrp="1"/>
          </p:cNvSpPr>
          <p:nvPr/>
        </p:nvSpPr>
        <p:spPr>
          <a:xfrm xmlns:a="http://schemas.openxmlformats.org/drawingml/2006/main">
            <a:off x="666750" y="26193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EBDF"/>
                </a:solidFill>
                <a:latin typeface="Arial"/>
                <a:ea typeface="Arial"/>
                <a:cs typeface="Arial"/>
              </a:defRPr>
            </a:pPr>
            <a:r>
              <a:rPr sz="2325" b="0">
                <a:solidFill>
                  <a:srgbClr val="E8EBDF"/>
                </a:solidFill>
                <a:latin typeface="Arial"/>
                <a:ea typeface="Arial"/>
                <a:cs typeface="Arial"/>
              </a:rPr>
              <a:t>Exchange traded funds  ·  Portfolio balance  ·  Your next decision</a:t>
            </a:r>
          </a:p>
        </p:txBody>
      </p:sp>
      <p:sp>
        <p:nvSpPr>
          <p:cNvPr id="5" name="">
            <a:extLst xmlns:a="http://schemas.openxmlformats.org/drawingml/2006/main">
              <a:ext uri="{FF2B5EF4-FFF2-40B4-BE49-F238E27FC236}">
                <a16:creationId xmlns:a16="http://schemas.microsoft.com/office/drawing/2014/main" id="{C63F1C36-8D3C-4F89-80BB-2D5D45460EAF}"/>
              </a:ext>
            </a:extLst>
          </p:cNvPr>
          <p:cNvSpPr>
            <a:spLocks xmlns:a="http://schemas.openxmlformats.org/drawingml/2006/main" noGrp="1"/>
          </p:cNvSpPr>
          <p:nvPr/>
        </p:nvSpPr>
        <p:spPr>
          <a:xfrm xmlns:a="http://schemas.openxmlformats.org/drawingml/2006/main">
            <a:off x="666750" y="4419600"/>
            <a:ext cx="981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Today: find a gap in your portfolio, compare funds, and choose one you can explain.</a:t>
            </a:r>
          </a:p>
        </p:txBody>
      </p:sp>
    </p:spTree>
    <p:extLst>
      <p:ext uri="{BB962C8B-B14F-4D97-AF65-F5344CB8AC3E}">
        <p14:creationId xmlns:p14="http://schemas.microsoft.com/office/powerpoint/2010/main" val="204427643"/>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6B4F3F-826A-4EC1-BF4E-DC71881D87FD}"/>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97C45CBA-2516-472D-B00B-E522C841CF4D}"/>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What is an ETF?</a:t>
            </a:r>
          </a:p>
        </p:txBody>
      </p:sp>
      <p:sp>
        <p:nvSpPr>
          <p:cNvPr id="3" name="">
            <a:extLst xmlns:a="http://schemas.openxmlformats.org/drawingml/2006/main">
              <a:ext uri="{FF2B5EF4-FFF2-40B4-BE49-F238E27FC236}">
                <a16:creationId xmlns:a16="http://schemas.microsoft.com/office/drawing/2014/main" id="{AD9ADE17-4EA5-4536-9992-34C86807B03E}"/>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B694F19-DC55-499D-A4C8-68AB163195FF}"/>
              </a:ext>
            </a:extLst>
          </p:cNvPr>
          <p:cNvSpPr>
            <a:spLocks xmlns:a="http://schemas.openxmlformats.org/drawingml/2006/main" noGrp="1"/>
          </p:cNvSpPr>
          <p:nvPr/>
        </p:nvSpPr>
        <p:spPr>
          <a:xfrm xmlns:a="http://schemas.openxmlformats.org/drawingml/2006/main">
            <a:off x="762000" y="2171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2231D"/>
                </a:solidFill>
                <a:latin typeface="Arial"/>
                <a:ea typeface="Arial"/>
                <a:cs typeface="Arial"/>
              </a:defRPr>
            </a:pPr>
            <a:r>
              <a:rPr sz="2325" b="0">
                <a:solidFill>
                  <a:srgbClr val="22231D"/>
                </a:solidFill>
                <a:latin typeface="Arial"/>
                <a:ea typeface="Arial"/>
                <a:cs typeface="Arial"/>
              </a:rPr>
              <a:t>An ETF is a fund that trades on an exchange under a ticker, like a stock.</a:t>
            </a:r>
          </a:p>
        </p:txBody>
      </p:sp>
      <p:sp>
        <p:nvSpPr>
          <p:cNvPr id="5" name="">
            <a:extLst xmlns:a="http://schemas.openxmlformats.org/drawingml/2006/main">
              <a:ext uri="{FF2B5EF4-FFF2-40B4-BE49-F238E27FC236}">
                <a16:creationId xmlns:a16="http://schemas.microsoft.com/office/drawing/2014/main" id="{1C8B8E7B-4389-441E-B756-186519E5A75C}"/>
              </a:ext>
            </a:extLst>
          </p:cNvPr>
          <p:cNvSpPr>
            <a:spLocks xmlns:a="http://schemas.openxmlformats.org/drawingml/2006/main" noGrp="1"/>
          </p:cNvSpPr>
          <p:nvPr/>
        </p:nvSpPr>
        <p:spPr>
          <a:xfrm xmlns:a="http://schemas.openxmlformats.org/drawingml/2006/main">
            <a:off x="762000" y="3333750"/>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555B34"/>
                </a:solidFill>
                <a:latin typeface="Arial"/>
                <a:ea typeface="Arial"/>
                <a:cs typeface="Arial"/>
              </a:defRPr>
            </a:pPr>
            <a:r>
              <a:rPr sz="2325" b="1">
                <a:solidFill>
                  <a:srgbClr val="555B34"/>
                </a:solidFill>
                <a:latin typeface="Arial"/>
                <a:ea typeface="Arial"/>
                <a:cs typeface="Arial"/>
              </a:rPr>
              <a:t>The fund owns a basket of investments. You own shares of the fund.</a:t>
            </a:r>
          </a:p>
        </p:txBody>
      </p:sp>
      <p:sp>
        <p:nvSpPr>
          <p:cNvPr id="6" name="">
            <a:extLst xmlns:a="http://schemas.openxmlformats.org/drawingml/2006/main">
              <a:ext uri="{FF2B5EF4-FFF2-40B4-BE49-F238E27FC236}">
                <a16:creationId xmlns:a16="http://schemas.microsoft.com/office/drawing/2014/main" id="{33BEF1FA-D298-44A3-BB8D-4102F8792174}"/>
              </a:ext>
            </a:extLst>
          </p:cNvPr>
          <p:cNvSpPr>
            <a:spLocks xmlns:a="http://schemas.openxmlformats.org/drawingml/2006/main" noGrp="1"/>
          </p:cNvSpPr>
          <p:nvPr/>
        </p:nvSpPr>
        <p:spPr>
          <a:xfrm xmlns:a="http://schemas.openxmlformats.org/drawingml/2006/main">
            <a:off x="762000" y="45243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2231D"/>
                </a:solidFill>
                <a:latin typeface="Arial"/>
                <a:ea typeface="Arial"/>
                <a:cs typeface="Arial"/>
              </a:defRPr>
            </a:pPr>
            <a:r>
              <a:rPr sz="2100" b="0">
                <a:solidFill>
                  <a:srgbClr val="22231D"/>
                </a:solidFill>
                <a:latin typeface="Arial"/>
                <a:ea typeface="Arial"/>
                <a:cs typeface="Arial"/>
              </a:rPr>
              <a:t>The basket might contain stocks, bonds, or a much narrower asset.</a:t>
            </a:r>
          </a:p>
        </p:txBody>
      </p:sp>
    </p:spTree>
    <p:extLst>
      <p:ext uri="{BB962C8B-B14F-4D97-AF65-F5344CB8AC3E}">
        <p14:creationId xmlns:p14="http://schemas.microsoft.com/office/powerpoint/2010/main" val="1610357757"/>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6DA133-9EE8-4E9A-ACD3-619C1C072961}"/>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CEB2B7F9-45D4-4331-8C40-629EDE0D61BF}"/>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One company versus a fund</a:t>
            </a:r>
          </a:p>
        </p:txBody>
      </p:sp>
      <p:sp>
        <p:nvSpPr>
          <p:cNvPr id="3" name="">
            <a:extLst xmlns:a="http://schemas.openxmlformats.org/drawingml/2006/main">
              <a:ext uri="{FF2B5EF4-FFF2-40B4-BE49-F238E27FC236}">
                <a16:creationId xmlns:a16="http://schemas.microsoft.com/office/drawing/2014/main" id="{77F9A663-0E8E-42C7-AA14-469FFDE47DA6}"/>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0C5025B-554C-4348-8449-6C16A8065B05}"/>
              </a:ext>
            </a:extLst>
          </p:cNvPr>
          <p:cNvSpPr>
            <a:spLocks xmlns:a="http://schemas.openxmlformats.org/drawingml/2006/main" noGrp="1"/>
          </p:cNvSpPr>
          <p:nvPr/>
        </p:nvSpPr>
        <p:spPr>
          <a:xfrm xmlns:a="http://schemas.openxmlformats.org/drawingml/2006/main">
            <a:off x="809625" y="2333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555B34"/>
                </a:solidFill>
                <a:latin typeface="Georgia"/>
                <a:ea typeface="Georgia"/>
                <a:cs typeface="Georgia"/>
              </a:defRPr>
            </a:pPr>
            <a:r>
              <a:rPr sz="3450" b="1">
                <a:solidFill>
                  <a:srgbClr val="555B34"/>
                </a:solidFill>
                <a:latin typeface="Georgia"/>
                <a:ea typeface="Georgia"/>
                <a:cs typeface="Georgia"/>
              </a:rPr>
              <a:t>AAPL</a:t>
            </a:r>
          </a:p>
        </p:txBody>
      </p:sp>
      <p:sp>
        <p:nvSpPr>
          <p:cNvPr id="5" name="">
            <a:extLst xmlns:a="http://schemas.openxmlformats.org/drawingml/2006/main">
              <a:ext uri="{FF2B5EF4-FFF2-40B4-BE49-F238E27FC236}">
                <a16:creationId xmlns:a16="http://schemas.microsoft.com/office/drawing/2014/main" id="{04EDFE0E-5A03-4754-84C6-664E5EC2528B}"/>
              </a:ext>
            </a:extLst>
          </p:cNvPr>
          <p:cNvSpPr>
            <a:spLocks xmlns:a="http://schemas.openxmlformats.org/drawingml/2006/main" noGrp="1"/>
          </p:cNvSpPr>
          <p:nvPr/>
        </p:nvSpPr>
        <p:spPr>
          <a:xfrm xmlns:a="http://schemas.openxmlformats.org/drawingml/2006/main">
            <a:off x="809625" y="30480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One company</a:t>
            </a:r>
          </a:p>
        </p:txBody>
      </p:sp>
      <p:sp>
        <p:nvSpPr>
          <p:cNvPr id="6" name="">
            <a:extLst xmlns:a="http://schemas.openxmlformats.org/drawingml/2006/main">
              <a:ext uri="{FF2B5EF4-FFF2-40B4-BE49-F238E27FC236}">
                <a16:creationId xmlns:a16="http://schemas.microsoft.com/office/drawing/2014/main" id="{F201F98A-9437-419C-8CCC-6DB7CA67324F}"/>
              </a:ext>
            </a:extLst>
          </p:cNvPr>
          <p:cNvSpPr>
            <a:spLocks xmlns:a="http://schemas.openxmlformats.org/drawingml/2006/main" noGrp="1"/>
          </p:cNvSpPr>
          <p:nvPr/>
        </p:nvSpPr>
        <p:spPr>
          <a:xfrm xmlns:a="http://schemas.openxmlformats.org/drawingml/2006/main">
            <a:off x="6143625" y="2333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555B34"/>
                </a:solidFill>
                <a:latin typeface="Georgia"/>
                <a:ea typeface="Georgia"/>
                <a:cs typeface="Georgia"/>
              </a:defRPr>
            </a:pPr>
            <a:r>
              <a:rPr sz="3450" b="1">
                <a:solidFill>
                  <a:srgbClr val="555B34"/>
                </a:solidFill>
                <a:latin typeface="Georgia"/>
                <a:ea typeface="Georgia"/>
                <a:cs typeface="Georgia"/>
              </a:rPr>
              <a:t>VTI</a:t>
            </a:r>
          </a:p>
        </p:txBody>
      </p:sp>
      <p:sp>
        <p:nvSpPr>
          <p:cNvPr id="7" name="">
            <a:extLst xmlns:a="http://schemas.openxmlformats.org/drawingml/2006/main">
              <a:ext uri="{FF2B5EF4-FFF2-40B4-BE49-F238E27FC236}">
                <a16:creationId xmlns:a16="http://schemas.microsoft.com/office/drawing/2014/main" id="{B0111D62-8A53-4FA8-88BA-6691360EDD2D}"/>
              </a:ext>
            </a:extLst>
          </p:cNvPr>
          <p:cNvSpPr>
            <a:spLocks xmlns:a="http://schemas.openxmlformats.org/drawingml/2006/main" noGrp="1"/>
          </p:cNvSpPr>
          <p:nvPr/>
        </p:nvSpPr>
        <p:spPr>
          <a:xfrm xmlns:a="http://schemas.openxmlformats.org/drawingml/2006/main">
            <a:off x="6143625" y="304800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A broad U.S. stock fund</a:t>
            </a:r>
          </a:p>
        </p:txBody>
      </p:sp>
      <p:sp>
        <p:nvSpPr>
          <p:cNvPr id="8" name="">
            <a:extLst xmlns:a="http://schemas.openxmlformats.org/drawingml/2006/main">
              <a:ext uri="{FF2B5EF4-FFF2-40B4-BE49-F238E27FC236}">
                <a16:creationId xmlns:a16="http://schemas.microsoft.com/office/drawing/2014/main" id="{15CC0673-B143-45A9-B070-FFF4FA663AC7}"/>
              </a:ext>
            </a:extLst>
          </p:cNvPr>
          <p:cNvSpPr>
            <a:spLocks xmlns:a="http://schemas.openxmlformats.org/drawingml/2006/main" noGrp="1"/>
          </p:cNvSpPr>
          <p:nvPr/>
        </p:nvSpPr>
        <p:spPr>
          <a:xfrm xmlns:a="http://schemas.openxmlformats.org/drawingml/2006/main">
            <a:off x="809625" y="4714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31D"/>
                </a:solidFill>
                <a:latin typeface="Arial"/>
                <a:ea typeface="Arial"/>
                <a:cs typeface="Arial"/>
              </a:defRPr>
            </a:pPr>
            <a:r>
              <a:rPr sz="2250" b="0">
                <a:solidFill>
                  <a:srgbClr val="22231D"/>
                </a:solidFill>
                <a:latin typeface="Arial"/>
                <a:ea typeface="Arial"/>
                <a:cs typeface="Arial"/>
              </a:rPr>
              <a:t>Both have a ticker and a changing market price. Their underlying risks differ.</a:t>
            </a:r>
          </a:p>
        </p:txBody>
      </p:sp>
    </p:spTree>
    <p:extLst>
      <p:ext uri="{BB962C8B-B14F-4D97-AF65-F5344CB8AC3E}">
        <p14:creationId xmlns:p14="http://schemas.microsoft.com/office/powerpoint/2010/main" val="720734449"/>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D4BC6-FE30-4757-BB4F-7FA720C92C39}"/>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7B550425-DCBB-48BE-8D01-BA2B089F7CB7}"/>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An ETF ticker does not tell the whole story</a:t>
            </a:r>
          </a:p>
        </p:txBody>
      </p:sp>
      <p:sp>
        <p:nvSpPr>
          <p:cNvPr id="3" name="">
            <a:extLst xmlns:a="http://schemas.openxmlformats.org/drawingml/2006/main">
              <a:ext uri="{FF2B5EF4-FFF2-40B4-BE49-F238E27FC236}">
                <a16:creationId xmlns:a16="http://schemas.microsoft.com/office/drawing/2014/main" id="{8AB0CE40-6B65-429A-9F71-949CF60D40B7}"/>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967F643-185B-441F-BCD4-E3CE6A40C8DA}"/>
              </a:ext>
            </a:extLst>
          </p:cNvPr>
          <p:cNvSpPr>
            <a:spLocks xmlns:a="http://schemas.openxmlformats.org/drawingml/2006/main" noGrp="1"/>
          </p:cNvSpPr>
          <p:nvPr/>
        </p:nvSpPr>
        <p:spPr>
          <a:xfrm xmlns:a="http://schemas.openxmlformats.org/drawingml/2006/main">
            <a:off x="857250" y="209550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VTI  →  U.S. stocks across the market</a:t>
            </a:r>
          </a:p>
        </p:txBody>
      </p:sp>
      <p:sp>
        <p:nvSpPr>
          <p:cNvPr id="5" name="">
            <a:extLst xmlns:a="http://schemas.openxmlformats.org/drawingml/2006/main">
              <a:ext uri="{FF2B5EF4-FFF2-40B4-BE49-F238E27FC236}">
                <a16:creationId xmlns:a16="http://schemas.microsoft.com/office/drawing/2014/main" id="{96756E61-48CA-40D7-8332-BCA0C51E96AE}"/>
              </a:ext>
            </a:extLst>
          </p:cNvPr>
          <p:cNvSpPr>
            <a:spLocks xmlns:a="http://schemas.openxmlformats.org/drawingml/2006/main" noGrp="1"/>
          </p:cNvSpPr>
          <p:nvPr/>
        </p:nvSpPr>
        <p:spPr>
          <a:xfrm xmlns:a="http://schemas.openxmlformats.org/drawingml/2006/main">
            <a:off x="857250" y="2847975"/>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VXUS  →  Stocks outside the U.S.</a:t>
            </a:r>
          </a:p>
        </p:txBody>
      </p:sp>
      <p:sp>
        <p:nvSpPr>
          <p:cNvPr id="6" name="">
            <a:extLst xmlns:a="http://schemas.openxmlformats.org/drawingml/2006/main">
              <a:ext uri="{FF2B5EF4-FFF2-40B4-BE49-F238E27FC236}">
                <a16:creationId xmlns:a16="http://schemas.microsoft.com/office/drawing/2014/main" id="{93CF5C9E-CC01-4C2C-AA1F-301BDB257F5F}"/>
              </a:ext>
            </a:extLst>
          </p:cNvPr>
          <p:cNvSpPr>
            <a:spLocks xmlns:a="http://schemas.openxmlformats.org/drawingml/2006/main" noGrp="1"/>
          </p:cNvSpPr>
          <p:nvPr/>
        </p:nvSpPr>
        <p:spPr>
          <a:xfrm xmlns:a="http://schemas.openxmlformats.org/drawingml/2006/main">
            <a:off x="857250" y="360045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BND  →  A broad mix of U.S. bonds</a:t>
            </a:r>
          </a:p>
        </p:txBody>
      </p:sp>
      <p:sp>
        <p:nvSpPr>
          <p:cNvPr id="7" name="">
            <a:extLst xmlns:a="http://schemas.openxmlformats.org/drawingml/2006/main">
              <a:ext uri="{FF2B5EF4-FFF2-40B4-BE49-F238E27FC236}">
                <a16:creationId xmlns:a16="http://schemas.microsoft.com/office/drawing/2014/main" id="{6A1763E6-6E84-4B1C-882D-79015D1314CC}"/>
              </a:ext>
            </a:extLst>
          </p:cNvPr>
          <p:cNvSpPr>
            <a:spLocks xmlns:a="http://schemas.openxmlformats.org/drawingml/2006/main" noGrp="1"/>
          </p:cNvSpPr>
          <p:nvPr/>
        </p:nvSpPr>
        <p:spPr>
          <a:xfrm xmlns:a="http://schemas.openxmlformats.org/drawingml/2006/main">
            <a:off x="857250" y="4352925"/>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XLK  →  Technology stocks only</a:t>
            </a:r>
          </a:p>
        </p:txBody>
      </p:sp>
      <p:sp>
        <p:nvSpPr>
          <p:cNvPr id="8" name="">
            <a:extLst xmlns:a="http://schemas.openxmlformats.org/drawingml/2006/main">
              <a:ext uri="{FF2B5EF4-FFF2-40B4-BE49-F238E27FC236}">
                <a16:creationId xmlns:a16="http://schemas.microsoft.com/office/drawing/2014/main" id="{8900C267-2DAB-4195-9BB2-419556983BC8}"/>
              </a:ext>
            </a:extLst>
          </p:cNvPr>
          <p:cNvSpPr>
            <a:spLocks xmlns:a="http://schemas.openxmlformats.org/drawingml/2006/main" noGrp="1"/>
          </p:cNvSpPr>
          <p:nvPr/>
        </p:nvSpPr>
        <p:spPr>
          <a:xfrm xmlns:a="http://schemas.openxmlformats.org/drawingml/2006/main">
            <a:off x="857250" y="510540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QQQ  →  Large Nasdaq companies; technology tilted</a:t>
            </a:r>
          </a:p>
        </p:txBody>
      </p:sp>
    </p:spTree>
    <p:extLst>
      <p:ext uri="{BB962C8B-B14F-4D97-AF65-F5344CB8AC3E}">
        <p14:creationId xmlns:p14="http://schemas.microsoft.com/office/powerpoint/2010/main" val="216281331"/>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1C7F9F-37EC-414D-A58C-A506C3A0344A}"/>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E77D3F4B-3DD1-4D72-A509-E7E1E2A270F2}"/>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How ETFs appear in SimLife</a:t>
            </a:r>
          </a:p>
        </p:txBody>
      </p:sp>
      <p:sp>
        <p:nvSpPr>
          <p:cNvPr id="3" name="">
            <a:extLst xmlns:a="http://schemas.openxmlformats.org/drawingml/2006/main">
              <a:ext uri="{FF2B5EF4-FFF2-40B4-BE49-F238E27FC236}">
                <a16:creationId xmlns:a16="http://schemas.microsoft.com/office/drawing/2014/main" id="{486B99B3-60E9-4207-8307-DD9DED00ED8D}"/>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44FC570-35EE-4FD0-B45F-E17A42344255}"/>
              </a:ext>
            </a:extLst>
          </p:cNvPr>
          <p:cNvSpPr>
            <a:spLocks xmlns:a="http://schemas.openxmlformats.org/drawingml/2006/main" noGrp="1"/>
          </p:cNvSpPr>
          <p:nvPr/>
        </p:nvSpPr>
        <p:spPr>
          <a:xfrm xmlns:a="http://schemas.openxmlformats.org/drawingml/2006/main">
            <a:off x="819150" y="22860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Investing  →  Search a ticker, such as VTI</a:t>
            </a:r>
          </a:p>
        </p:txBody>
      </p:sp>
      <p:sp>
        <p:nvSpPr>
          <p:cNvPr id="5" name="">
            <a:extLst xmlns:a="http://schemas.openxmlformats.org/drawingml/2006/main">
              <a:ext uri="{FF2B5EF4-FFF2-40B4-BE49-F238E27FC236}">
                <a16:creationId xmlns:a16="http://schemas.microsoft.com/office/drawing/2014/main" id="{416D9622-8341-494A-8C3B-106D12178781}"/>
              </a:ext>
            </a:extLst>
          </p:cNvPr>
          <p:cNvSpPr>
            <a:spLocks xmlns:a="http://schemas.openxmlformats.org/drawingml/2006/main" noGrp="1"/>
          </p:cNvSpPr>
          <p:nvPr/>
        </p:nvSpPr>
        <p:spPr>
          <a:xfrm xmlns:a="http://schemas.openxmlformats.org/drawingml/2006/main">
            <a:off x="819150" y="3162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Read the fund name and current quote</a:t>
            </a:r>
          </a:p>
        </p:txBody>
      </p:sp>
      <p:sp>
        <p:nvSpPr>
          <p:cNvPr id="6" name="">
            <a:extLst xmlns:a="http://schemas.openxmlformats.org/drawingml/2006/main">
              <a:ext uri="{FF2B5EF4-FFF2-40B4-BE49-F238E27FC236}">
                <a16:creationId xmlns:a16="http://schemas.microsoft.com/office/drawing/2014/main" id="{10B39352-8D40-4E33-A77F-D662FCC4B826}"/>
              </a:ext>
            </a:extLst>
          </p:cNvPr>
          <p:cNvSpPr>
            <a:spLocks xmlns:a="http://schemas.openxmlformats.org/drawingml/2006/main" noGrp="1"/>
          </p:cNvSpPr>
          <p:nvPr/>
        </p:nvSpPr>
        <p:spPr>
          <a:xfrm xmlns:a="http://schemas.openxmlformats.org/drawingml/2006/main">
            <a:off x="819150" y="40386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Enter a dollar amount; SimLife calculates fractional shares</a:t>
            </a:r>
          </a:p>
        </p:txBody>
      </p:sp>
      <p:sp>
        <p:nvSpPr>
          <p:cNvPr id="7" name="">
            <a:extLst xmlns:a="http://schemas.openxmlformats.org/drawingml/2006/main">
              <a:ext uri="{FF2B5EF4-FFF2-40B4-BE49-F238E27FC236}">
                <a16:creationId xmlns:a16="http://schemas.microsoft.com/office/drawing/2014/main" id="{5F7F5E26-1B73-4336-A5AD-35048522EFB9}"/>
              </a:ext>
            </a:extLst>
          </p:cNvPr>
          <p:cNvSpPr>
            <a:spLocks xmlns:a="http://schemas.openxmlformats.org/drawingml/2006/main" noGrp="1"/>
          </p:cNvSpPr>
          <p:nvPr/>
        </p:nvSpPr>
        <p:spPr>
          <a:xfrm xmlns:a="http://schemas.openxmlformats.org/drawingml/2006/main">
            <a:off x="819150" y="49149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After buying, the ETF appears in your portfolio beside stocks</a:t>
            </a:r>
          </a:p>
        </p:txBody>
      </p:sp>
      <p:sp>
        <p:nvSpPr>
          <p:cNvPr id="8" name="">
            <a:extLst xmlns:a="http://schemas.openxmlformats.org/drawingml/2006/main">
              <a:ext uri="{FF2B5EF4-FFF2-40B4-BE49-F238E27FC236}">
                <a16:creationId xmlns:a16="http://schemas.microsoft.com/office/drawing/2014/main" id="{665D299D-6992-4A78-8B51-DD8A3D2F6959}"/>
              </a:ext>
            </a:extLst>
          </p:cNvPr>
          <p:cNvSpPr>
            <a:spLocks xmlns:a="http://schemas.openxmlformats.org/drawingml/2006/main" noGrp="1"/>
          </p:cNvSpPr>
          <p:nvPr/>
        </p:nvSpPr>
        <p:spPr>
          <a:xfrm xmlns:a="http://schemas.openxmlformats.org/drawingml/2006/main">
            <a:off x="819150" y="58769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55B34"/>
                </a:solidFill>
                <a:latin typeface="Arial"/>
                <a:ea typeface="Arial"/>
                <a:cs typeface="Arial"/>
              </a:defRPr>
            </a:pPr>
            <a:r>
              <a:rPr sz="1650" b="1">
                <a:solidFill>
                  <a:srgbClr val="555B34"/>
                </a:solidFill>
                <a:latin typeface="Arial"/>
                <a:ea typeface="Arial"/>
                <a:cs typeface="Arial"/>
              </a:rPr>
              <a:t>Try VTI, VXUS, BND, or VOO in the search box.</a:t>
            </a:r>
          </a:p>
        </p:txBody>
      </p:sp>
    </p:spTree>
    <p:extLst>
      <p:ext uri="{BB962C8B-B14F-4D97-AF65-F5344CB8AC3E}">
        <p14:creationId xmlns:p14="http://schemas.microsoft.com/office/powerpoint/2010/main" val="52799013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FEA383-7CED-41AF-B0E4-6CE975828210}"/>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96DB7AAB-CA36-4651-85B9-2EEA1996828E}"/>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Read the fund before buying</a:t>
            </a:r>
          </a:p>
        </p:txBody>
      </p:sp>
      <p:sp>
        <p:nvSpPr>
          <p:cNvPr id="3" name="">
            <a:extLst xmlns:a="http://schemas.openxmlformats.org/drawingml/2006/main">
              <a:ext uri="{FF2B5EF4-FFF2-40B4-BE49-F238E27FC236}">
                <a16:creationId xmlns:a16="http://schemas.microsoft.com/office/drawing/2014/main" id="{21C038A9-1D8D-4246-9AB5-30ACAAEBBB61}"/>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3241C036-1CC2-4917-B359-8ED393952A84}"/>
              </a:ext>
            </a:extLst>
          </p:cNvPr>
          <p:cNvSpPr>
            <a:spLocks xmlns:a="http://schemas.openxmlformats.org/drawingml/2006/main" noGrp="1"/>
          </p:cNvSpPr>
          <p:nvPr/>
        </p:nvSpPr>
        <p:spPr>
          <a:xfrm xmlns:a="http://schemas.openxmlformats.org/drawingml/2006/main">
            <a:off x="819150" y="20955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What does it own?  Stocks, bonds, a sector, or one asset?</a:t>
            </a:r>
          </a:p>
        </p:txBody>
      </p:sp>
      <p:sp>
        <p:nvSpPr>
          <p:cNvPr id="5" name="">
            <a:extLst xmlns:a="http://schemas.openxmlformats.org/drawingml/2006/main">
              <a:ext uri="{FF2B5EF4-FFF2-40B4-BE49-F238E27FC236}">
                <a16:creationId xmlns:a16="http://schemas.microsoft.com/office/drawing/2014/main" id="{F9814781-206B-4D2E-A63B-224B82E75C73}"/>
              </a:ext>
            </a:extLst>
          </p:cNvPr>
          <p:cNvSpPr>
            <a:spLocks xmlns:a="http://schemas.openxmlformats.org/drawingml/2006/main" noGrp="1"/>
          </p:cNvSpPr>
          <p:nvPr/>
        </p:nvSpPr>
        <p:spPr>
          <a:xfrm xmlns:a="http://schemas.openxmlformats.org/drawingml/2006/main">
            <a:off x="819150" y="28575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Where is it invested?  U.S., outside the U.S., or both?</a:t>
            </a:r>
          </a:p>
        </p:txBody>
      </p:sp>
      <p:sp>
        <p:nvSpPr>
          <p:cNvPr id="6" name="">
            <a:extLst xmlns:a="http://schemas.openxmlformats.org/drawingml/2006/main">
              <a:ext uri="{FF2B5EF4-FFF2-40B4-BE49-F238E27FC236}">
                <a16:creationId xmlns:a16="http://schemas.microsoft.com/office/drawing/2014/main" id="{5982B1D7-B0CD-4A48-AA6D-69108C715F06}"/>
              </a:ext>
            </a:extLst>
          </p:cNvPr>
          <p:cNvSpPr>
            <a:spLocks xmlns:a="http://schemas.openxmlformats.org/drawingml/2006/main" noGrp="1"/>
          </p:cNvSpPr>
          <p:nvPr/>
        </p:nvSpPr>
        <p:spPr>
          <a:xfrm xmlns:a="http://schemas.openxmlformats.org/drawingml/2006/main">
            <a:off x="819150" y="36195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What overlaps with your current holdings?</a:t>
            </a:r>
          </a:p>
        </p:txBody>
      </p:sp>
      <p:sp>
        <p:nvSpPr>
          <p:cNvPr id="7" name="">
            <a:extLst xmlns:a="http://schemas.openxmlformats.org/drawingml/2006/main">
              <a:ext uri="{FF2B5EF4-FFF2-40B4-BE49-F238E27FC236}">
                <a16:creationId xmlns:a16="http://schemas.microsoft.com/office/drawing/2014/main" id="{041637BA-1E4F-4C95-8D77-92786E57B2EE}"/>
              </a:ext>
            </a:extLst>
          </p:cNvPr>
          <p:cNvSpPr>
            <a:spLocks xmlns:a="http://schemas.openxmlformats.org/drawingml/2006/main" noGrp="1"/>
          </p:cNvSpPr>
          <p:nvPr/>
        </p:nvSpPr>
        <p:spPr>
          <a:xfrm xmlns:a="http://schemas.openxmlformats.org/drawingml/2006/main">
            <a:off x="819150" y="43815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What is the expense ratio?  Check the issuer’s fund page.</a:t>
            </a:r>
          </a:p>
        </p:txBody>
      </p:sp>
      <p:sp>
        <p:nvSpPr>
          <p:cNvPr id="8" name="">
            <a:extLst xmlns:a="http://schemas.openxmlformats.org/drawingml/2006/main">
              <a:ext uri="{FF2B5EF4-FFF2-40B4-BE49-F238E27FC236}">
                <a16:creationId xmlns:a16="http://schemas.microsoft.com/office/drawing/2014/main" id="{C2E6A98E-8A46-46DD-80B2-8F81F0507C31}"/>
              </a:ext>
            </a:extLst>
          </p:cNvPr>
          <p:cNvSpPr>
            <a:spLocks xmlns:a="http://schemas.openxmlformats.org/drawingml/2006/main" noGrp="1"/>
          </p:cNvSpPr>
          <p:nvPr/>
        </p:nvSpPr>
        <p:spPr>
          <a:xfrm xmlns:a="http://schemas.openxmlformats.org/drawingml/2006/main">
            <a:off x="819150" y="51435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What could make it lose value?</a:t>
            </a:r>
          </a:p>
        </p:txBody>
      </p:sp>
    </p:spTree>
    <p:extLst>
      <p:ext uri="{BB962C8B-B14F-4D97-AF65-F5344CB8AC3E}">
        <p14:creationId xmlns:p14="http://schemas.microsoft.com/office/powerpoint/2010/main" val="2057541329"/>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28366E-F8DF-47E0-A7CF-B3824BB46305}"/>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0526294E-77F2-4C87-8E34-324D07831ED7}"/>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Your portfolio gap</a:t>
            </a:r>
          </a:p>
        </p:txBody>
      </p:sp>
      <p:sp>
        <p:nvSpPr>
          <p:cNvPr id="3" name="">
            <a:extLst xmlns:a="http://schemas.openxmlformats.org/drawingml/2006/main">
              <a:ext uri="{FF2B5EF4-FFF2-40B4-BE49-F238E27FC236}">
                <a16:creationId xmlns:a16="http://schemas.microsoft.com/office/drawing/2014/main" id="{C73D0935-7FAC-4908-BDD8-61425058D054}"/>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0521CAD-5C56-4B87-BCF9-59996F258B7E}"/>
              </a:ext>
            </a:extLst>
          </p:cNvPr>
          <p:cNvSpPr>
            <a:spLocks xmlns:a="http://schemas.openxmlformats.org/drawingml/2006/main" noGrp="1"/>
          </p:cNvSpPr>
          <p:nvPr/>
        </p:nvSpPr>
        <p:spPr>
          <a:xfrm xmlns:a="http://schemas.openxmlformats.org/drawingml/2006/main">
            <a:off x="781050" y="209550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555B34"/>
                </a:solidFill>
                <a:latin typeface="Arial"/>
                <a:ea typeface="Arial"/>
                <a:cs typeface="Arial"/>
              </a:defRPr>
            </a:pPr>
            <a:r>
              <a:rPr sz="2625" b="1">
                <a:solidFill>
                  <a:srgbClr val="555B34"/>
                </a:solidFill>
                <a:latin typeface="Arial"/>
                <a:ea typeface="Arial"/>
                <a:cs typeface="Arial"/>
              </a:rPr>
              <a:t>Look at what you already own</a:t>
            </a:r>
          </a:p>
        </p:txBody>
      </p:sp>
      <p:sp>
        <p:nvSpPr>
          <p:cNvPr id="5" name="">
            <a:extLst xmlns:a="http://schemas.openxmlformats.org/drawingml/2006/main">
              <a:ext uri="{FF2B5EF4-FFF2-40B4-BE49-F238E27FC236}">
                <a16:creationId xmlns:a16="http://schemas.microsoft.com/office/drawing/2014/main" id="{EA45623E-7B0B-4E9A-972A-1C9DA9EE2D14}"/>
              </a:ext>
            </a:extLst>
          </p:cNvPr>
          <p:cNvSpPr>
            <a:spLocks xmlns:a="http://schemas.openxmlformats.org/drawingml/2006/main" noGrp="1"/>
          </p:cNvSpPr>
          <p:nvPr/>
        </p:nvSpPr>
        <p:spPr>
          <a:xfrm xmlns:a="http://schemas.openxmlformats.org/drawingml/2006/main">
            <a:off x="819150" y="31242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Many U.S. tech stocks?  Another U.S. tech fund may repeat that bet.</a:t>
            </a:r>
          </a:p>
        </p:txBody>
      </p:sp>
      <p:sp>
        <p:nvSpPr>
          <p:cNvPr id="6" name="">
            <a:extLst xmlns:a="http://schemas.openxmlformats.org/drawingml/2006/main">
              <a:ext uri="{FF2B5EF4-FFF2-40B4-BE49-F238E27FC236}">
                <a16:creationId xmlns:a16="http://schemas.microsoft.com/office/drawing/2014/main" id="{0A29D0B0-6AD0-43B4-9424-7D6C9C413F53}"/>
              </a:ext>
            </a:extLst>
          </p:cNvPr>
          <p:cNvSpPr>
            <a:spLocks xmlns:a="http://schemas.openxmlformats.org/drawingml/2006/main" noGrp="1"/>
          </p:cNvSpPr>
          <p:nvPr/>
        </p:nvSpPr>
        <p:spPr>
          <a:xfrm xmlns:a="http://schemas.openxmlformats.org/drawingml/2006/main">
            <a:off x="819150" y="39814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Only U.S. stocks?  A broad international fund may add geography.</a:t>
            </a:r>
          </a:p>
        </p:txBody>
      </p:sp>
      <p:sp>
        <p:nvSpPr>
          <p:cNvPr id="7" name="">
            <a:extLst xmlns:a="http://schemas.openxmlformats.org/drawingml/2006/main">
              <a:ext uri="{FF2B5EF4-FFF2-40B4-BE49-F238E27FC236}">
                <a16:creationId xmlns:a16="http://schemas.microsoft.com/office/drawing/2014/main" id="{391C5C6D-5452-497C-82AC-BD5FA19FE05A}"/>
              </a:ext>
            </a:extLst>
          </p:cNvPr>
          <p:cNvSpPr>
            <a:spLocks xmlns:a="http://schemas.openxmlformats.org/drawingml/2006/main" noGrp="1"/>
          </p:cNvSpPr>
          <p:nvPr/>
        </p:nvSpPr>
        <p:spPr>
          <a:xfrm xmlns:a="http://schemas.openxmlformats.org/drawingml/2006/main">
            <a:off x="819150" y="48387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Only company stocks?  A broad bond fund changes asset type.</a:t>
            </a:r>
          </a:p>
        </p:txBody>
      </p:sp>
    </p:spTree>
    <p:extLst>
      <p:ext uri="{BB962C8B-B14F-4D97-AF65-F5344CB8AC3E}">
        <p14:creationId xmlns:p14="http://schemas.microsoft.com/office/powerpoint/2010/main" val="756145041"/>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AE453E-FD53-4807-8323-EA9DFBC20D1E}"/>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47D89786-6D2C-41C0-8512-09044869DFC4}"/>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The overlap question</a:t>
            </a:r>
          </a:p>
        </p:txBody>
      </p:sp>
      <p:sp>
        <p:nvSpPr>
          <p:cNvPr id="3" name="">
            <a:extLst xmlns:a="http://schemas.openxmlformats.org/drawingml/2006/main">
              <a:ext uri="{FF2B5EF4-FFF2-40B4-BE49-F238E27FC236}">
                <a16:creationId xmlns:a16="http://schemas.microsoft.com/office/drawing/2014/main" id="{8ABA28E7-BF1E-4C2F-B6C1-2DF4F229EB0B}"/>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B50C6662-31D9-49D7-8F57-BBC4A17C9516}"/>
              </a:ext>
            </a:extLst>
          </p:cNvPr>
          <p:cNvSpPr>
            <a:spLocks xmlns:a="http://schemas.openxmlformats.org/drawingml/2006/main" noGrp="1"/>
          </p:cNvSpPr>
          <p:nvPr/>
        </p:nvSpPr>
        <p:spPr>
          <a:xfrm xmlns:a="http://schemas.openxmlformats.org/drawingml/2006/main">
            <a:off x="781050" y="2238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555B34"/>
                </a:solidFill>
                <a:latin typeface="Georgia"/>
                <a:ea typeface="Georgia"/>
                <a:cs typeface="Georgia"/>
              </a:defRPr>
            </a:pPr>
            <a:r>
              <a:rPr sz="2850" b="1">
                <a:solidFill>
                  <a:srgbClr val="555B34"/>
                </a:solidFill>
                <a:latin typeface="Georgia"/>
                <a:ea typeface="Georgia"/>
                <a:cs typeface="Georgia"/>
              </a:rPr>
              <a:t>Owning 10 tickers does not always mean 10 different bets.</a:t>
            </a:r>
          </a:p>
        </p:txBody>
      </p:sp>
      <p:sp>
        <p:nvSpPr>
          <p:cNvPr id="5" name="">
            <a:extLst xmlns:a="http://schemas.openxmlformats.org/drawingml/2006/main">
              <a:ext uri="{FF2B5EF4-FFF2-40B4-BE49-F238E27FC236}">
                <a16:creationId xmlns:a16="http://schemas.microsoft.com/office/drawing/2014/main" id="{BE8BE172-B793-4F8B-8207-01E8B3875B53}"/>
              </a:ext>
            </a:extLst>
          </p:cNvPr>
          <p:cNvSpPr>
            <a:spLocks xmlns:a="http://schemas.openxmlformats.org/drawingml/2006/main" noGrp="1"/>
          </p:cNvSpPr>
          <p:nvPr/>
        </p:nvSpPr>
        <p:spPr>
          <a:xfrm xmlns:a="http://schemas.openxmlformats.org/drawingml/2006/main">
            <a:off x="781050" y="36671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31D"/>
                </a:solidFill>
                <a:latin typeface="Arial"/>
                <a:ea typeface="Arial"/>
                <a:cs typeface="Arial"/>
              </a:defRPr>
            </a:pPr>
            <a:r>
              <a:rPr sz="2250" b="0">
                <a:solidFill>
                  <a:srgbClr val="22231D"/>
                </a:solidFill>
                <a:latin typeface="Arial"/>
                <a:ea typeface="Arial"/>
                <a:cs typeface="Arial"/>
              </a:rPr>
              <a:t>AAPL + MSFT + QQQ may leave you heavily exposed to large technology companies.</a:t>
            </a:r>
          </a:p>
        </p:txBody>
      </p:sp>
      <p:sp>
        <p:nvSpPr>
          <p:cNvPr id="6" name="">
            <a:extLst xmlns:a="http://schemas.openxmlformats.org/drawingml/2006/main">
              <a:ext uri="{FF2B5EF4-FFF2-40B4-BE49-F238E27FC236}">
                <a16:creationId xmlns:a16="http://schemas.microsoft.com/office/drawing/2014/main" id="{7D12867A-E134-4D13-8AD3-FF94359B3ED5}"/>
              </a:ext>
            </a:extLst>
          </p:cNvPr>
          <p:cNvSpPr>
            <a:spLocks xmlns:a="http://schemas.openxmlformats.org/drawingml/2006/main" noGrp="1"/>
          </p:cNvSpPr>
          <p:nvPr/>
        </p:nvSpPr>
        <p:spPr>
          <a:xfrm xmlns:a="http://schemas.openxmlformats.org/drawingml/2006/main">
            <a:off x="781050" y="51435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2231D"/>
                </a:solidFill>
                <a:latin typeface="Arial"/>
                <a:ea typeface="Arial"/>
                <a:cs typeface="Arial"/>
              </a:defRPr>
            </a:pPr>
            <a:r>
              <a:rPr sz="2025" b="0">
                <a:solidFill>
                  <a:srgbClr val="22231D"/>
                </a:solidFill>
                <a:latin typeface="Arial"/>
                <a:ea typeface="Arial"/>
                <a:cs typeface="Arial"/>
              </a:rPr>
              <a:t>Look through the ETF to its top holdings and sector weights.</a:t>
            </a:r>
          </a:p>
        </p:txBody>
      </p:sp>
    </p:spTree>
    <p:extLst>
      <p:ext uri="{BB962C8B-B14F-4D97-AF65-F5344CB8AC3E}">
        <p14:creationId xmlns:p14="http://schemas.microsoft.com/office/powerpoint/2010/main" val="965544412"/>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772634-4CFB-4C82-B2B0-15B1E39C176A}"/>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4086E3D1-A76D-4FDC-AEDD-1F714CD31464}"/>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Compare two ETF candidates</a:t>
            </a:r>
          </a:p>
        </p:txBody>
      </p:sp>
      <p:sp>
        <p:nvSpPr>
          <p:cNvPr id="3" name="">
            <a:extLst xmlns:a="http://schemas.openxmlformats.org/drawingml/2006/main">
              <a:ext uri="{FF2B5EF4-FFF2-40B4-BE49-F238E27FC236}">
                <a16:creationId xmlns:a16="http://schemas.microsoft.com/office/drawing/2014/main" id="{0AFDFD2F-9DE2-4E10-8E16-EB9AB89FBB36}"/>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727882C9-76A1-44AE-80F6-D8AC0BD1BEDA}"/>
              </a:ext>
            </a:extLst>
          </p:cNvPr>
          <p:cNvSpPr>
            <a:spLocks xmlns:a="http://schemas.openxmlformats.org/drawingml/2006/main" noGrp="1"/>
          </p:cNvSpPr>
          <p:nvPr/>
        </p:nvSpPr>
        <p:spPr>
          <a:xfrm xmlns:a="http://schemas.openxmlformats.org/drawingml/2006/main">
            <a:off x="800100" y="20478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555B34"/>
                </a:solidFill>
                <a:latin typeface="Arial"/>
                <a:ea typeface="Arial"/>
                <a:cs typeface="Arial"/>
              </a:defRPr>
            </a:pPr>
            <a:r>
              <a:rPr sz="2175" b="1">
                <a:solidFill>
                  <a:srgbClr val="555B34"/>
                </a:solidFill>
                <a:latin typeface="Arial"/>
                <a:ea typeface="Arial"/>
                <a:cs typeface="Arial"/>
              </a:rPr>
              <a:t>Student example: mostly U.S. company stocks</a:t>
            </a:r>
          </a:p>
        </p:txBody>
      </p:sp>
      <p:sp>
        <p:nvSpPr>
          <p:cNvPr id="5" name="">
            <a:extLst xmlns:a="http://schemas.openxmlformats.org/drawingml/2006/main">
              <a:ext uri="{FF2B5EF4-FFF2-40B4-BE49-F238E27FC236}">
                <a16:creationId xmlns:a16="http://schemas.microsoft.com/office/drawing/2014/main" id="{B27F4AB9-834B-4FE9-A07C-24F212905117}"/>
              </a:ext>
            </a:extLst>
          </p:cNvPr>
          <p:cNvSpPr>
            <a:spLocks xmlns:a="http://schemas.openxmlformats.org/drawingml/2006/main" noGrp="1"/>
          </p:cNvSpPr>
          <p:nvPr/>
        </p:nvSpPr>
        <p:spPr>
          <a:xfrm xmlns:a="http://schemas.openxmlformats.org/drawingml/2006/main">
            <a:off x="838200" y="283845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2231D"/>
                </a:solidFill>
                <a:latin typeface="Georgia"/>
                <a:ea typeface="Georgia"/>
                <a:cs typeface="Georgia"/>
              </a:defRPr>
            </a:pPr>
            <a:r>
              <a:rPr sz="3300" b="1">
                <a:solidFill>
                  <a:srgbClr val="22231D"/>
                </a:solidFill>
                <a:latin typeface="Georgia"/>
                <a:ea typeface="Georgia"/>
                <a:cs typeface="Georgia"/>
              </a:rPr>
              <a:t>VTI</a:t>
            </a:r>
          </a:p>
        </p:txBody>
      </p:sp>
      <p:sp>
        <p:nvSpPr>
          <p:cNvPr id="6" name="">
            <a:extLst xmlns:a="http://schemas.openxmlformats.org/drawingml/2006/main">
              <a:ext uri="{FF2B5EF4-FFF2-40B4-BE49-F238E27FC236}">
                <a16:creationId xmlns:a16="http://schemas.microsoft.com/office/drawing/2014/main" id="{03B02B38-0E6E-4CE4-854B-4AFBB6A90D39}"/>
              </a:ext>
            </a:extLst>
          </p:cNvPr>
          <p:cNvSpPr>
            <a:spLocks xmlns:a="http://schemas.openxmlformats.org/drawingml/2006/main" noGrp="1"/>
          </p:cNvSpPr>
          <p:nvPr/>
        </p:nvSpPr>
        <p:spPr>
          <a:xfrm xmlns:a="http://schemas.openxmlformats.org/drawingml/2006/main">
            <a:off x="838200" y="361950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Broad U.S. stocks</a:t>
            </a:r>
          </a:p>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Adds many companies</a:t>
            </a:r>
          </a:p>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Still mostly U.S. stock risk</a:t>
            </a:r>
          </a:p>
        </p:txBody>
      </p:sp>
      <p:sp>
        <p:nvSpPr>
          <p:cNvPr id="7" name="">
            <a:extLst xmlns:a="http://schemas.openxmlformats.org/drawingml/2006/main">
              <a:ext uri="{FF2B5EF4-FFF2-40B4-BE49-F238E27FC236}">
                <a16:creationId xmlns:a16="http://schemas.microsoft.com/office/drawing/2014/main" id="{B02D5346-967E-43AD-B23B-E867ECF6B50C}"/>
              </a:ext>
            </a:extLst>
          </p:cNvPr>
          <p:cNvSpPr>
            <a:spLocks xmlns:a="http://schemas.openxmlformats.org/drawingml/2006/main" noGrp="1"/>
          </p:cNvSpPr>
          <p:nvPr/>
        </p:nvSpPr>
        <p:spPr>
          <a:xfrm xmlns:a="http://schemas.openxmlformats.org/drawingml/2006/main">
            <a:off x="6429375" y="28384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2231D"/>
                </a:solidFill>
                <a:latin typeface="Georgia"/>
                <a:ea typeface="Georgia"/>
                <a:cs typeface="Georgia"/>
              </a:defRPr>
            </a:pPr>
            <a:r>
              <a:rPr sz="3300" b="1">
                <a:solidFill>
                  <a:srgbClr val="22231D"/>
                </a:solidFill>
                <a:latin typeface="Georgia"/>
                <a:ea typeface="Georgia"/>
                <a:cs typeface="Georgia"/>
              </a:rPr>
              <a:t>VXUS</a:t>
            </a:r>
          </a:p>
        </p:txBody>
      </p:sp>
      <p:sp>
        <p:nvSpPr>
          <p:cNvPr id="8" name="">
            <a:extLst xmlns:a="http://schemas.openxmlformats.org/drawingml/2006/main">
              <a:ext uri="{FF2B5EF4-FFF2-40B4-BE49-F238E27FC236}">
                <a16:creationId xmlns:a16="http://schemas.microsoft.com/office/drawing/2014/main" id="{4529001F-7A4F-430E-A629-02AB24F5D686}"/>
              </a:ext>
            </a:extLst>
          </p:cNvPr>
          <p:cNvSpPr>
            <a:spLocks xmlns:a="http://schemas.openxmlformats.org/drawingml/2006/main" noGrp="1"/>
          </p:cNvSpPr>
          <p:nvPr/>
        </p:nvSpPr>
        <p:spPr>
          <a:xfrm xmlns:a="http://schemas.openxmlformats.org/drawingml/2006/main">
            <a:off x="6429375" y="3619500"/>
            <a:ext cx="4381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Broad non-U.S. stocks</a:t>
            </a:r>
          </a:p>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Adds geographic exposure</a:t>
            </a:r>
          </a:p>
          <a:p xmlns:a="http://schemas.openxmlformats.org/drawingml/2006/main">
            <a:pPr>
              <a:defRPr sz="1950" b="0">
                <a:solidFill>
                  <a:srgbClr val="22231D"/>
                </a:solidFill>
                <a:latin typeface="Arial"/>
                <a:ea typeface="Arial"/>
                <a:cs typeface="Arial"/>
              </a:defRPr>
            </a:pPr>
            <a:r>
              <a:rPr sz="1950" b="0">
                <a:solidFill>
                  <a:srgbClr val="22231D"/>
                </a:solidFill>
                <a:latin typeface="Arial"/>
                <a:ea typeface="Arial"/>
                <a:cs typeface="Arial"/>
              </a:rPr>
              <a:t>Still stock market risk</a:t>
            </a:r>
          </a:p>
        </p:txBody>
      </p:sp>
    </p:spTree>
    <p:extLst>
      <p:ext uri="{BB962C8B-B14F-4D97-AF65-F5344CB8AC3E}">
        <p14:creationId xmlns:p14="http://schemas.microsoft.com/office/powerpoint/2010/main" val="1960122303"/>
      </p:ext>
    </p:extLst>
  </p:cSld>
</p:sld>
</file>

<file path=ppt/slides/slide10.xml><?xml version="1.0" encoding="utf-8"?>
<p:sld xmlns:p="http://schemas.openxmlformats.org/presentationml/2006/main">
  <p:cSld>
    <p:bg>
      <p:bgPr>
        <a:solidFill xmlns:a="http://schemas.openxmlformats.org/drawingml/2006/main">
          <a:srgbClr val="555B3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F8152D-D740-48F6-A168-4FD5E3175FA7}"/>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8EBDF"/>
                </a:solidFill>
                <a:latin typeface="Arial"/>
                <a:ea typeface="Arial"/>
                <a:cs typeface="Arial"/>
              </a:defRPr>
            </a:pPr>
            <a:r>
              <a:rPr sz="1275" b="1">
                <a:solidFill>
                  <a:srgbClr val="E8EBDF"/>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C00D4682-1EA4-4C40-99B6-430A7E0401E5}"/>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Georgia"/>
                <a:ea typeface="Georgia"/>
                <a:cs typeface="Georgia"/>
              </a:defRPr>
            </a:pPr>
            <a:r>
              <a:rPr sz="3375" b="1">
                <a:solidFill>
                  <a:srgbClr val="FFFFFF"/>
                </a:solidFill>
                <a:latin typeface="Georgia"/>
                <a:ea typeface="Georgia"/>
                <a:cs typeface="Georgia"/>
              </a:rPr>
              <a:t>Module 3 assignment</a:t>
            </a:r>
          </a:p>
        </p:txBody>
      </p:sp>
      <p:sp>
        <p:nvSpPr>
          <p:cNvPr id="3" name="">
            <a:extLst xmlns:a="http://schemas.openxmlformats.org/drawingml/2006/main">
              <a:ext uri="{FF2B5EF4-FFF2-40B4-BE49-F238E27FC236}">
                <a16:creationId xmlns:a16="http://schemas.microsoft.com/office/drawing/2014/main" id="{43C0B552-9B91-49E5-9355-125551629117}"/>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8EBDF"/>
                </a:solidFill>
                <a:latin typeface="Arial"/>
                <a:ea typeface="Arial"/>
                <a:cs typeface="Arial"/>
              </a:defRPr>
            </a:pPr>
            <a:r>
              <a:rPr sz="1200" b="1">
                <a:solidFill>
                  <a:srgbClr val="E8EBDF"/>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D44B5B9-6F36-436A-9517-655D3127C9CD}"/>
              </a:ext>
            </a:extLst>
          </p:cNvPr>
          <p:cNvSpPr>
            <a:spLocks xmlns:a="http://schemas.openxmlformats.org/drawingml/2006/main" noGrp="1"/>
          </p:cNvSpPr>
          <p:nvPr/>
        </p:nvSpPr>
        <p:spPr>
          <a:xfrm xmlns:a="http://schemas.openxmlformats.org/drawingml/2006/main">
            <a:off x="781050" y="21431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Identify a gap or concentration in your portfolio.</a:t>
            </a:r>
          </a:p>
        </p:txBody>
      </p:sp>
      <p:sp>
        <p:nvSpPr>
          <p:cNvPr id="5" name="">
            <a:extLst xmlns:a="http://schemas.openxmlformats.org/drawingml/2006/main">
              <a:ext uri="{FF2B5EF4-FFF2-40B4-BE49-F238E27FC236}">
                <a16:creationId xmlns:a16="http://schemas.microsoft.com/office/drawing/2014/main" id="{4133FD98-B72C-43DA-A029-72C6806F70F4}"/>
              </a:ext>
            </a:extLst>
          </p:cNvPr>
          <p:cNvSpPr>
            <a:spLocks xmlns:a="http://schemas.openxmlformats.org/drawingml/2006/main" noGrp="1"/>
          </p:cNvSpPr>
          <p:nvPr/>
        </p:nvSpPr>
        <p:spPr>
          <a:xfrm xmlns:a="http://schemas.openxmlformats.org/drawingml/2006/main">
            <a:off x="781050" y="30575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Compare two ETFs: holdings, overlap, fees, and risk.</a:t>
            </a:r>
          </a:p>
        </p:txBody>
      </p:sp>
      <p:sp>
        <p:nvSpPr>
          <p:cNvPr id="6" name="">
            <a:extLst xmlns:a="http://schemas.openxmlformats.org/drawingml/2006/main">
              <a:ext uri="{FF2B5EF4-FFF2-40B4-BE49-F238E27FC236}">
                <a16:creationId xmlns:a16="http://schemas.microsoft.com/office/drawing/2014/main" id="{AE67FC85-E4EE-4A64-8925-E2BB7C129128}"/>
              </a:ext>
            </a:extLst>
          </p:cNvPr>
          <p:cNvSpPr>
            <a:spLocks xmlns:a="http://schemas.openxmlformats.org/drawingml/2006/main" noGrp="1"/>
          </p:cNvSpPr>
          <p:nvPr/>
        </p:nvSpPr>
        <p:spPr>
          <a:xfrm xmlns:a="http://schemas.openxmlformats.org/drawingml/2006/main">
            <a:off x="781050" y="39719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Hold one broad stock or bond ETF that fits your goal.</a:t>
            </a:r>
          </a:p>
        </p:txBody>
      </p:sp>
      <p:sp>
        <p:nvSpPr>
          <p:cNvPr id="7" name="">
            <a:extLst xmlns:a="http://schemas.openxmlformats.org/drawingml/2006/main">
              <a:ext uri="{FF2B5EF4-FFF2-40B4-BE49-F238E27FC236}">
                <a16:creationId xmlns:a16="http://schemas.microsoft.com/office/drawing/2014/main" id="{A57A111F-02A6-4E75-BF8B-A5CAFB50FF66}"/>
              </a:ext>
            </a:extLst>
          </p:cNvPr>
          <p:cNvSpPr>
            <a:spLocks xmlns:a="http://schemas.openxmlformats.org/drawingml/2006/main" noGrp="1"/>
          </p:cNvSpPr>
          <p:nvPr/>
        </p:nvSpPr>
        <p:spPr>
          <a:xfrm xmlns:a="http://schemas.openxmlformats.org/drawingml/2006/main">
            <a:off x="781050" y="48863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Explain the effect you expect and the risk that remains.</a:t>
            </a:r>
          </a:p>
        </p:txBody>
      </p:sp>
    </p:spTree>
    <p:extLst>
      <p:ext uri="{BB962C8B-B14F-4D97-AF65-F5344CB8AC3E}">
        <p14:creationId xmlns:p14="http://schemas.microsoft.com/office/powerpoint/2010/main" val="527651236"/>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DCB948-03DF-44B8-9D1F-920799252D94}"/>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27C2D3C7-90E8-49F4-B587-56A866EDAFD6}"/>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What a strong explanation sounds like</a:t>
            </a:r>
          </a:p>
        </p:txBody>
      </p:sp>
      <p:sp>
        <p:nvSpPr>
          <p:cNvPr id="3" name="">
            <a:extLst xmlns:a="http://schemas.openxmlformats.org/drawingml/2006/main">
              <a:ext uri="{FF2B5EF4-FFF2-40B4-BE49-F238E27FC236}">
                <a16:creationId xmlns:a16="http://schemas.microsoft.com/office/drawing/2014/main" id="{5BD79CC8-9DC8-48A5-BB3B-97D6729B29E7}"/>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9C1F1CF-AA11-49C4-8DA5-AE6B2CDAC9F9}"/>
              </a:ext>
            </a:extLst>
          </p:cNvPr>
          <p:cNvSpPr>
            <a:spLocks xmlns:a="http://schemas.openxmlformats.org/drawingml/2006/main" noGrp="1"/>
          </p:cNvSpPr>
          <p:nvPr/>
        </p:nvSpPr>
        <p:spPr>
          <a:xfrm xmlns:a="http://schemas.openxmlformats.org/drawingml/2006/main">
            <a:off x="838200" y="2095500"/>
            <a:ext cx="103822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31D"/>
                </a:solidFill>
                <a:latin typeface="Arial"/>
                <a:ea typeface="Arial"/>
                <a:cs typeface="Arial"/>
              </a:defRPr>
            </a:pPr>
            <a:r>
              <a:rPr sz="2250" b="0">
                <a:solidFill>
                  <a:srgbClr val="22231D"/>
                </a:solidFill>
                <a:latin typeface="Arial"/>
                <a:ea typeface="Arial"/>
                <a:cs typeface="Arial"/>
              </a:rPr>
              <a:t>“My portfolio is mostly U.S. company stocks. I chose VXUS because it holds companies outside the U.S. I compared it with VTI, which would add more U.S. stocks I already have. I checked each fund’s holdings and costs. VXUS adds geographic spread, but I can still lose money if global stocks fall.”</a:t>
            </a:r>
          </a:p>
        </p:txBody>
      </p:sp>
    </p:spTree>
    <p:extLst>
      <p:ext uri="{BB962C8B-B14F-4D97-AF65-F5344CB8AC3E}">
        <p14:creationId xmlns:p14="http://schemas.microsoft.com/office/powerpoint/2010/main" val="133439981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8648AA-4B1F-49AF-A643-3E7544C14426}"/>
              </a:ext>
            </a:extLst>
          </p:cNvPr>
          <p:cNvSpPr>
            <a:spLocks xmlns:a="http://schemas.openxmlformats.org/drawingml/2006/main" noGrp="1"/>
          </p:cNvSpPr>
          <p:nvPr/>
        </p:nvSpPr>
        <p:spPr>
          <a:xfrm xmlns:a="http://schemas.openxmlformats.org/drawingml/2006/main">
            <a:off x="609600" y="3238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5B34"/>
                </a:solidFill>
                <a:latin typeface="Arial"/>
                <a:ea typeface="Arial"/>
                <a:cs typeface="Arial"/>
              </a:defRPr>
            </a:pPr>
            <a:r>
              <a:rPr sz="1275" b="1">
                <a:solidFill>
                  <a:srgbClr val="555B34"/>
                </a:solidFill>
                <a:latin typeface="Arial"/>
                <a:ea typeface="Arial"/>
                <a:cs typeface="Arial"/>
              </a:rPr>
              <a:t>SIMLIFE  /  INVESTING  /  MODULE 3</a:t>
            </a:r>
          </a:p>
        </p:txBody>
      </p:sp>
      <p:sp>
        <p:nvSpPr>
          <p:cNvPr id="2" name="">
            <a:extLst xmlns:a="http://schemas.openxmlformats.org/drawingml/2006/main">
              <a:ext uri="{FF2B5EF4-FFF2-40B4-BE49-F238E27FC236}">
                <a16:creationId xmlns:a16="http://schemas.microsoft.com/office/drawing/2014/main" id="{69742FA8-40EA-44A1-92FF-9DCE4C1B2D0D}"/>
              </a:ext>
            </a:extLst>
          </p:cNvPr>
          <p:cNvSpPr>
            <a:spLocks xmlns:a="http://schemas.openxmlformats.org/drawingml/2006/main" noGrp="1"/>
          </p:cNvSpPr>
          <p:nvPr/>
        </p:nvSpPr>
        <p:spPr>
          <a:xfrm xmlns:a="http://schemas.openxmlformats.org/drawingml/2006/main">
            <a:off x="609600" y="866775"/>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22231D"/>
                </a:solidFill>
                <a:latin typeface="Georgia"/>
                <a:ea typeface="Georgia"/>
                <a:cs typeface="Georgia"/>
              </a:defRPr>
            </a:pPr>
            <a:r>
              <a:rPr sz="3375" b="1">
                <a:solidFill>
                  <a:srgbClr val="22231D"/>
                </a:solidFill>
                <a:latin typeface="Georgia"/>
                <a:ea typeface="Georgia"/>
                <a:cs typeface="Georgia"/>
              </a:rPr>
              <a:t>Exit ticket</a:t>
            </a:r>
          </a:p>
        </p:txBody>
      </p:sp>
      <p:sp>
        <p:nvSpPr>
          <p:cNvPr id="3" name="">
            <a:extLst xmlns:a="http://schemas.openxmlformats.org/drawingml/2006/main">
              <a:ext uri="{FF2B5EF4-FFF2-40B4-BE49-F238E27FC236}">
                <a16:creationId xmlns:a16="http://schemas.microsoft.com/office/drawing/2014/main" id="{A2346768-F2C5-44E4-AE32-F10C375635AB}"/>
              </a:ext>
            </a:extLst>
          </p:cNvPr>
          <p:cNvSpPr>
            <a:spLocks xmlns:a="http://schemas.openxmlformats.org/drawingml/2006/main" noGrp="1"/>
          </p:cNvSpPr>
          <p:nvPr/>
        </p:nvSpPr>
        <p:spPr>
          <a:xfrm xmlns:a="http://schemas.openxmlformats.org/drawingml/2006/main">
            <a:off x="11049000" y="61912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86B5E"/>
                </a:solidFill>
                <a:latin typeface="Arial"/>
                <a:ea typeface="Arial"/>
                <a:cs typeface="Arial"/>
              </a:defRPr>
            </a:pPr>
            <a:r>
              <a:rPr sz="1200" b="1">
                <a:solidFill>
                  <a:srgbClr val="686B5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57C0F29-CE68-4410-9171-C50C02377F72}"/>
              </a:ext>
            </a:extLst>
          </p:cNvPr>
          <p:cNvSpPr>
            <a:spLocks xmlns:a="http://schemas.openxmlformats.org/drawingml/2006/main" noGrp="1"/>
          </p:cNvSpPr>
          <p:nvPr/>
        </p:nvSpPr>
        <p:spPr>
          <a:xfrm xmlns:a="http://schemas.openxmlformats.org/drawingml/2006/main">
            <a:off x="781050" y="2143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2231D"/>
                </a:solidFill>
                <a:latin typeface="Arial"/>
                <a:ea typeface="Arial"/>
                <a:cs typeface="Arial"/>
              </a:defRPr>
            </a:pPr>
            <a:r>
              <a:rPr sz="2400" b="0">
                <a:solidFill>
                  <a:srgbClr val="22231D"/>
                </a:solidFill>
                <a:latin typeface="Arial"/>
                <a:ea typeface="Arial"/>
                <a:cs typeface="Arial"/>
              </a:rPr>
              <a:t>Which risk in your portfolio are you trying to change?</a:t>
            </a:r>
          </a:p>
        </p:txBody>
      </p:sp>
      <p:sp>
        <p:nvSpPr>
          <p:cNvPr id="5" name="">
            <a:extLst xmlns:a="http://schemas.openxmlformats.org/drawingml/2006/main">
              <a:ext uri="{FF2B5EF4-FFF2-40B4-BE49-F238E27FC236}">
                <a16:creationId xmlns:a16="http://schemas.microsoft.com/office/drawing/2014/main" id="{02551EFB-6C6A-4528-8089-994A02D9EBF1}"/>
              </a:ext>
            </a:extLst>
          </p:cNvPr>
          <p:cNvSpPr>
            <a:spLocks xmlns:a="http://schemas.openxmlformats.org/drawingml/2006/main" noGrp="1"/>
          </p:cNvSpPr>
          <p:nvPr/>
        </p:nvSpPr>
        <p:spPr>
          <a:xfrm xmlns:a="http://schemas.openxmlformats.org/drawingml/2006/main">
            <a:off x="781050" y="32385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2231D"/>
                </a:solidFill>
                <a:latin typeface="Arial"/>
                <a:ea typeface="Arial"/>
                <a:cs typeface="Arial"/>
              </a:defRPr>
            </a:pPr>
            <a:r>
              <a:rPr sz="2400" b="0">
                <a:solidFill>
                  <a:srgbClr val="22231D"/>
                </a:solidFill>
                <a:latin typeface="Arial"/>
                <a:ea typeface="Arial"/>
                <a:cs typeface="Arial"/>
              </a:rPr>
              <a:t>Which two ETFs will you compare?</a:t>
            </a:r>
          </a:p>
        </p:txBody>
      </p:sp>
      <p:sp>
        <p:nvSpPr>
          <p:cNvPr id="6" name="">
            <a:extLst xmlns:a="http://schemas.openxmlformats.org/drawingml/2006/main">
              <a:ext uri="{FF2B5EF4-FFF2-40B4-BE49-F238E27FC236}">
                <a16:creationId xmlns:a16="http://schemas.microsoft.com/office/drawing/2014/main" id="{9465D5D5-094F-4A35-A0E8-64EFCAE93036}"/>
              </a:ext>
            </a:extLst>
          </p:cNvPr>
          <p:cNvSpPr>
            <a:spLocks xmlns:a="http://schemas.openxmlformats.org/drawingml/2006/main" noGrp="1"/>
          </p:cNvSpPr>
          <p:nvPr/>
        </p:nvSpPr>
        <p:spPr>
          <a:xfrm xmlns:a="http://schemas.openxmlformats.org/drawingml/2006/main">
            <a:off x="781050" y="43338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2231D"/>
                </a:solidFill>
                <a:latin typeface="Arial"/>
                <a:ea typeface="Arial"/>
                <a:cs typeface="Arial"/>
              </a:defRPr>
            </a:pPr>
            <a:r>
              <a:rPr sz="2400" b="0">
                <a:solidFill>
                  <a:srgbClr val="22231D"/>
                </a:solidFill>
                <a:latin typeface="Arial"/>
                <a:ea typeface="Arial"/>
                <a:cs typeface="Arial"/>
              </a:rPr>
              <a:t>What would make you reject an ETF, even if its name sounds right?</a:t>
            </a:r>
          </a:p>
        </p:txBody>
      </p:sp>
      <p:sp>
        <p:nvSpPr>
          <p:cNvPr id="7" name="">
            <a:extLst xmlns:a="http://schemas.openxmlformats.org/drawingml/2006/main">
              <a:ext uri="{FF2B5EF4-FFF2-40B4-BE49-F238E27FC236}">
                <a16:creationId xmlns:a16="http://schemas.microsoft.com/office/drawing/2014/main" id="{D8C9402E-9830-4A81-A246-5B0B229EA744}"/>
              </a:ext>
            </a:extLst>
          </p:cNvPr>
          <p:cNvSpPr>
            <a:spLocks xmlns:a="http://schemas.openxmlformats.org/drawingml/2006/main" noGrp="1"/>
          </p:cNvSpPr>
          <p:nvPr/>
        </p:nvSpPr>
        <p:spPr>
          <a:xfrm xmlns:a="http://schemas.openxmlformats.org/drawingml/2006/main">
            <a:off x="781050" y="58578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55B34"/>
                </a:solidFill>
                <a:latin typeface="Arial"/>
                <a:ea typeface="Arial"/>
                <a:cs typeface="Arial"/>
              </a:defRPr>
            </a:pPr>
            <a:r>
              <a:rPr sz="1650" b="1">
                <a:solidFill>
                  <a:srgbClr val="555B34"/>
                </a:solidFill>
                <a:latin typeface="Arial"/>
                <a:ea typeface="Arial"/>
                <a:cs typeface="Arial"/>
              </a:rPr>
              <a:t>Next: open Investing, research two funds, then begin your Module 3 draft.</a:t>
            </a:r>
          </a:p>
        </p:txBody>
      </p:sp>
    </p:spTree>
    <p:extLst>
      <p:ext uri="{BB962C8B-B14F-4D97-AF65-F5344CB8AC3E}">
        <p14:creationId xmlns:p14="http://schemas.microsoft.com/office/powerpoint/2010/main" val="339828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2026-09-27T13:22:36.4820000Z</dcterms:created>
  <dcterms:modified xsi:type="dcterms:W3CDTF">2026-09-27T13:22:36.4820000Z</dcterms:modified>
</coreProperties>
</file>