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df61e394d864afb" /><Relationship Type="http://schemas.openxmlformats.org/officeDocument/2006/relationships/extended-properties" Target="/docProps/app.xml" Id="Rdfdcc7a0220c4d24" /><Relationship Type="http://schemas.openxmlformats.org/officeDocument/2006/relationships/officeDocument" Target="/ppt/presentation.xml" Id="R5588adf06c964be9" /></Relationships>
</file>

<file path=ppt/presentation.xml><?xml version="1.0" encoding="utf-8"?>
<p:presentation xmlns:p="http://schemas.openxmlformats.org/presentationml/2006/main">
  <p:sldMasterIdLst>
    <p:sldMasterId xmlns:r="http://schemas.openxmlformats.org/officeDocument/2006/relationships" id="2147483648" r:id="R10b659b71ca740ba"/>
  </p:sldMasterIdLst>
  <p:notesMasterIdLst>
    <p:notesMasterId xmlns:r="http://schemas.openxmlformats.org/officeDocument/2006/relationships" r:id="Rc2c7becfba024ee2"/>
  </p:notesMasterIdLst>
  <p:sldIdLst>
    <p:sldId xmlns:r="http://schemas.openxmlformats.org/officeDocument/2006/relationships" id="256" r:id="R749cb38325fd41db"/>
    <p:sldId xmlns:r="http://schemas.openxmlformats.org/officeDocument/2006/relationships" id="257" r:id="Rea5c12c3d6404266"/>
    <p:sldId xmlns:r="http://schemas.openxmlformats.org/officeDocument/2006/relationships" id="258" r:id="R11f5e08630cf4ba6"/>
    <p:sldId xmlns:r="http://schemas.openxmlformats.org/officeDocument/2006/relationships" id="259" r:id="Rf87fa734e4bb4ac2"/>
    <p:sldId xmlns:r="http://schemas.openxmlformats.org/officeDocument/2006/relationships" id="260" r:id="Rb87fc5ee152f43b1"/>
    <p:sldId xmlns:r="http://schemas.openxmlformats.org/officeDocument/2006/relationships" id="261" r:id="R5c6118cd47f84767"/>
    <p:sldId xmlns:r="http://schemas.openxmlformats.org/officeDocument/2006/relationships" id="262" r:id="R44327b9ecf1a468e"/>
    <p:sldId xmlns:r="http://schemas.openxmlformats.org/officeDocument/2006/relationships" id="263" r:id="R8d379beb1d724bdc"/>
    <p:sldId xmlns:r="http://schemas.openxmlformats.org/officeDocument/2006/relationships" id="264" r:id="R50b05ae3690e4c7c"/>
    <p:sldId xmlns:r="http://schemas.openxmlformats.org/officeDocument/2006/relationships" id="265" r:id="R9bd9db0a819a4fbf"/>
    <p:sldId xmlns:r="http://schemas.openxmlformats.org/officeDocument/2006/relationships" id="266" r:id="R18462eea307f479e"/>
    <p:sldId xmlns:r="http://schemas.openxmlformats.org/officeDocument/2006/relationships" id="267" r:id="R59811aa17c12480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1d8b1392b0841f0" /><Relationship Type="http://schemas.openxmlformats.org/officeDocument/2006/relationships/slideMaster" Target="/ppt/slideMasters/slideMaster1.xml" Id="R10b659b71ca740ba" /><Relationship Type="http://schemas.openxmlformats.org/officeDocument/2006/relationships/notesMaster" Target="/ppt/notesMasters/notesMaster1.xml" Id="Rc2c7becfba024ee2" /><Relationship Type="http://schemas.openxmlformats.org/officeDocument/2006/relationships/presProps" Target="/ppt/presProps.xml" Id="R25ad3c0e319b4e81" /><Relationship Type="http://schemas.openxmlformats.org/officeDocument/2006/relationships/tableStyles" Target="/ppt/tableStyles.xml" Id="Re29c80bd48654ec6" /><Relationship Type="http://schemas.openxmlformats.org/officeDocument/2006/relationships/slide" Target="/ppt/slides/slide1.xml" Id="R749cb38325fd41db" /><Relationship Type="http://schemas.openxmlformats.org/officeDocument/2006/relationships/slide" Target="/ppt/slides/slide2.xml" Id="Rea5c12c3d6404266" /><Relationship Type="http://schemas.openxmlformats.org/officeDocument/2006/relationships/slide" Target="/ppt/slides/slide3.xml" Id="R11f5e08630cf4ba6" /><Relationship Type="http://schemas.openxmlformats.org/officeDocument/2006/relationships/slide" Target="/ppt/slides/slide4.xml" Id="Rf87fa734e4bb4ac2" /><Relationship Type="http://schemas.openxmlformats.org/officeDocument/2006/relationships/slide" Target="/ppt/slides/slide5.xml" Id="Rb87fc5ee152f43b1" /><Relationship Type="http://schemas.openxmlformats.org/officeDocument/2006/relationships/slide" Target="/ppt/slides/slide6.xml" Id="R5c6118cd47f84767" /><Relationship Type="http://schemas.openxmlformats.org/officeDocument/2006/relationships/slide" Target="/ppt/slides/slide7.xml" Id="R44327b9ecf1a468e" /><Relationship Type="http://schemas.openxmlformats.org/officeDocument/2006/relationships/slide" Target="/ppt/slides/slide8.xml" Id="R8d379beb1d724bdc" /><Relationship Type="http://schemas.openxmlformats.org/officeDocument/2006/relationships/slide" Target="/ppt/slides/slide9.xml" Id="R50b05ae3690e4c7c" /><Relationship Type="http://schemas.openxmlformats.org/officeDocument/2006/relationships/slide" Target="/ppt/slides/slide10.xml" Id="R9bd9db0a819a4fbf" /><Relationship Type="http://schemas.openxmlformats.org/officeDocument/2006/relationships/slide" Target="/ppt/slides/slide11.xml" Id="R18462eea307f479e" /><Relationship Type="http://schemas.openxmlformats.org/officeDocument/2006/relationships/slide" Target="/ppt/slides/slide12.xml" Id="R59811aa17c12480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1726c7e834e465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a9636cecadb499f" /><Relationship Type="http://schemas.openxmlformats.org/officeDocument/2006/relationships/notesMaster" Target="/ppt/notesMasters/notesMaster1.xml" Id="Re0bab3aa57e74ad2" /></Relationships>
</file>

<file path=ppt/notesSlides/_rels/notesSlide2.xml.rels>&#65279;<?xml version="1.0" encoding="utf-8"?><Relationships xmlns="http://schemas.openxmlformats.org/package/2006/relationships"><Relationship Type="http://schemas.openxmlformats.org/officeDocument/2006/relationships/slide" Target="/ppt/slides/slide2.xml" Id="R958cd5c8219047eb" /><Relationship Type="http://schemas.openxmlformats.org/officeDocument/2006/relationships/notesMaster" Target="/ppt/notesMasters/notesMaster1.xml" Id="R2d99640f2887448a" /></Relationships>
</file>

<file path=ppt/notesSlides/_rels/notesSlide3.xml.rels>&#65279;<?xml version="1.0" encoding="utf-8"?><Relationships xmlns="http://schemas.openxmlformats.org/package/2006/relationships"><Relationship Type="http://schemas.openxmlformats.org/officeDocument/2006/relationships/slide" Target="/ppt/slides/slide3.xml" Id="R24f3763e9d18465d" /><Relationship Type="http://schemas.openxmlformats.org/officeDocument/2006/relationships/notesMaster" Target="/ppt/notesMasters/notesMaster1.xml" Id="R48eaca85a7424fcb" /></Relationships>
</file>

<file path=ppt/notesSlides/_rels/notesSlide4.xml.rels>&#65279;<?xml version="1.0" encoding="utf-8"?><Relationships xmlns="http://schemas.openxmlformats.org/package/2006/relationships"><Relationship Type="http://schemas.openxmlformats.org/officeDocument/2006/relationships/slide" Target="/ppt/slides/slide4.xml" Id="R62abe096546449c0" /><Relationship Type="http://schemas.openxmlformats.org/officeDocument/2006/relationships/notesMaster" Target="/ppt/notesMasters/notesMaster1.xml" Id="Rdc54a94ed4da4e44" /></Relationships>
</file>

<file path=ppt/notesSlides/_rels/notesSlide5.xml.rels>&#65279;<?xml version="1.0" encoding="utf-8"?><Relationships xmlns="http://schemas.openxmlformats.org/package/2006/relationships"><Relationship Type="http://schemas.openxmlformats.org/officeDocument/2006/relationships/slide" Target="/ppt/slides/slide5.xml" Id="R6b1b534c46eb498d" /><Relationship Type="http://schemas.openxmlformats.org/officeDocument/2006/relationships/notesMaster" Target="/ppt/notesMasters/notesMaster1.xml" Id="R91e6d44e8fca4548" /></Relationships>
</file>

<file path=ppt/notesSlides/_rels/notesSlide6.xml.rels>&#65279;<?xml version="1.0" encoding="utf-8"?><Relationships xmlns="http://schemas.openxmlformats.org/package/2006/relationships"><Relationship Type="http://schemas.openxmlformats.org/officeDocument/2006/relationships/slide" Target="/ppt/slides/slide6.xml" Id="Re86173e54ab746c6" /><Relationship Type="http://schemas.openxmlformats.org/officeDocument/2006/relationships/notesMaster" Target="/ppt/notesMasters/notesMaster1.xml" Id="R4de7ab4408bb4e13" /></Relationships>
</file>

<file path=ppt/notesSlides/_rels/notesSlide7.xml.rels>&#65279;<?xml version="1.0" encoding="utf-8"?><Relationships xmlns="http://schemas.openxmlformats.org/package/2006/relationships"><Relationship Type="http://schemas.openxmlformats.org/officeDocument/2006/relationships/slide" Target="/ppt/slides/slide7.xml" Id="Rac6e100790e1457a" /><Relationship Type="http://schemas.openxmlformats.org/officeDocument/2006/relationships/notesMaster" Target="/ppt/notesMasters/notesMaster1.xml" Id="R2cec6079f58a4f82" /></Relationships>
</file>

<file path=ppt/notesSlides/_rels/notesSlide8.xml.rels>&#65279;<?xml version="1.0" encoding="utf-8"?><Relationships xmlns="http://schemas.openxmlformats.org/package/2006/relationships"><Relationship Type="http://schemas.openxmlformats.org/officeDocument/2006/relationships/slide" Target="/ppt/slides/slide8.xml" Id="R63ef6192af2642dd" /><Relationship Type="http://schemas.openxmlformats.org/officeDocument/2006/relationships/notesMaster" Target="/ppt/notesMasters/notesMaster1.xml" Id="R14a34625d2cf45cd" /></Relationships>
</file>

<file path=ppt/notesSlides/_rels/notesSlide9.xml.rels>&#65279;<?xml version="1.0" encoding="utf-8"?><Relationships xmlns="http://schemas.openxmlformats.org/package/2006/relationships"><Relationship Type="http://schemas.openxmlformats.org/officeDocument/2006/relationships/slide" Target="/ppt/slides/slide9.xml" Id="R639dfa92c4d44f91" /><Relationship Type="http://schemas.openxmlformats.org/officeDocument/2006/relationships/notesMaster" Target="/ppt/notesMasters/notesMaster1.xml" Id="R0eea18aff70d4f7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c5f399dcc6f4bc3" /><Relationship Type="http://schemas.openxmlformats.org/officeDocument/2006/relationships/notesMaster" Target="/ppt/notesMasters/notesMaster1.xml" Id="R1776c8344b4d466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abb6fe6d3624419" /><Relationship Type="http://schemas.openxmlformats.org/officeDocument/2006/relationships/notesMaster" Target="/ppt/notesMasters/notesMaster1.xml" Id="R9763948d3823462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6c9257e6326406c" /><Relationship Type="http://schemas.openxmlformats.org/officeDocument/2006/relationships/notesMaster" Target="/ppt/notesMasters/notesMaster1.xml" Id="R99c074070ff549e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prompt: Which part of your current portfolio would be hurt if one company or one type of company struggled? Let students answer without assuming a right ticker.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Define “exchange traded fund.” Emphasize ownership of fund shares rather than direct ownership of each security. A fund can be broad or narrow.</a:t>
            </a:r>
          </a:p>
          <a:p xmlns:a="http://schemas.openxmlformats.org/drawingml/2006/main">
            <a:r>
              <a:t/>
            </a:r>
          </a:p>
          <a:p xmlns:a="http://schemas.openxmlformats.org/drawingml/2006/main">
            <a:r>
              <a:t>Sources:</a:t>
            </a:r>
          </a:p>
          <a:p xmlns:a="http://schemas.openxmlformats.org/drawingml/2006/main">
            <a:r>
              <a:t>https://www.investor.gov/introduction-investing/general-resources/news-alerts/alerts-bulletins/investor-bulletins-24</a:t>
            </a:r>
          </a:p>
          <a:p xmlns:a="http://schemas.openxmlformats.org/drawingml/2006/main">
            <a:r>
              <a:t>https://www.investor.gov/introduction-investing/general-resources/news-alerts/alerts-bulletins/characteristics-mutual-funds-exchange-traded-funds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Ask: What happens to AAPL if Apple has a bad year? What happens to VTI if Apple has a bad year? Do not promise that a broad ETF cannot lose money. VTI details are based on the local SimLife catalog; verify fund details on issuer site before any real-money use.</a:t>
            </a:r>
          </a:p>
          <a:p xmlns:a="http://schemas.openxmlformats.org/drawingml/2006/main">
            <a:r>
              <a:t/>
            </a:r>
          </a:p>
          <a:p xmlns:a="http://schemas.openxmlformats.org/drawingml/2006/main">
            <a:r>
              <a:t>Sources:</a:t>
            </a:r>
          </a:p>
          <a:p xmlns:a="http://schemas.openxmlformats.org/drawingml/2006/main">
            <a:r>
              <a:t>https://www.investor.gov/introduction-investing/general-resources/news-alerts/alerts-bulletins/investor-bulletins-24</a:t>
            </a:r>
          </a:p>
          <a:p xmlns:a="http://schemas.openxmlformats.org/drawingml/2006/main">
            <a:r>
              <a:t>https://www.investor.gov/introduction-investing/getting-started/asset-allocation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descriptions follow the SimLife ETF directory as audited September 2026. Ask which funds can fill a broad gap and which are concentrated. Stress that the ETF wrapper alone does not guarantee diversification.</a:t>
            </a:r>
          </a:p>
          <a:p xmlns:a="http://schemas.openxmlformats.org/drawingml/2006/main">
            <a:r>
              <a:t/>
            </a:r>
          </a:p>
          <a:p xmlns:a="http://schemas.openxmlformats.org/drawingml/2006/main">
            <a:r>
              <a:t>Sources:</a:t>
            </a:r>
          </a:p>
          <a:p xmlns:a="http://schemas.openxmlformats.org/drawingml/2006/main">
            <a:r>
              <a:t>https://www.investor.gov/introduction-investing/general-resources/news-alerts/alerts-bulletins/characteristics-mutual-funds-exchange-traded-funds</a:t>
            </a:r>
          </a:p>
          <a:p xmlns:a="http://schemas.openxmlformats.org/drawingml/2006/main">
            <a:r>
              <a:t>https://www.investor.gov/introduction-investing/getting-started/asset-allocation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Live demo in a test account. Search the ticker and show the quote, then buy only if classroom demo funds are available. The app supports fractional share purchases. Do not imply that a delayed quote is a guaranteed execution price.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a current issuer fund page or prospectus. Expense ratios can change, so the deck intentionally omits fixed fee figures. Mention that bid-ask spreads and brokerage trading costs can also matter outside this simulation.</a:t>
            </a:r>
          </a:p>
          <a:p xmlns:a="http://schemas.openxmlformats.org/drawingml/2006/main">
            <a:r>
              <a:t/>
            </a:r>
          </a:p>
          <a:p xmlns:a="http://schemas.openxmlformats.org/drawingml/2006/main">
            <a:r>
              <a:t>Sources:</a:t>
            </a:r>
          </a:p>
          <a:p xmlns:a="http://schemas.openxmlformats.org/drawingml/2006/main">
            <a:r>
              <a:t>https://www.investor.gov/introduction-investing/general-resources/news-alerts/alerts-bulletins/investor-bulletins-24</a:t>
            </a:r>
          </a:p>
          <a:p xmlns:a="http://schemas.openxmlformats.org/drawingml/2006/main">
            <a:r>
              <a:t>https://www.investor.gov/introduction-investing/general-resources/news-alerts/alerts-bulletins/investor-bulletins/mutual-fund-and-etf-fees-and-expenses-investor-bulletin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examples for discussion, not prescriptions. A student might choose a different broad ETF if they can explain the fit and tradeoff. Bond ETFs have interest rate and credit risks. International stocks carry currency and market risks.</a:t>
            </a:r>
          </a:p>
          <a:p xmlns:a="http://schemas.openxmlformats.org/drawingml/2006/main">
            <a:r>
              <a:t/>
            </a:r>
          </a:p>
          <a:p xmlns:a="http://schemas.openxmlformats.org/drawingml/2006/main">
            <a:r>
              <a:t>Sources:</a:t>
            </a:r>
          </a:p>
          <a:p xmlns:a="http://schemas.openxmlformats.org/drawingml/2006/main">
            <a:r>
              <a:t>https://www.investor.gov/introduction-investing/getting-started/asset-allocation</a:t>
            </a:r>
          </a:p>
          <a:p xmlns:a="http://schemas.openxmlformats.org/drawingml/2006/main">
            <a:r>
              <a:t>https://www.investor.gov/introduction-investing/general-resources/news-alerts/alerts-bulletins/investor-bulletins-24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QQQ is a non-financial Nasdaq fund and the SimLife directory marks it as tilted toward technology. Use this as a qualitative overlap example rather than exact portfolio-weight arithmetic. Funds can overlap even when their names differ.</a:t>
            </a:r>
          </a:p>
          <a:p xmlns:a="http://schemas.openxmlformats.org/drawingml/2006/main">
            <a:r>
              <a:t/>
            </a:r>
          </a:p>
          <a:p xmlns:a="http://schemas.openxmlformats.org/drawingml/2006/main">
            <a:r>
              <a:t>Sources:</a:t>
            </a:r>
          </a:p>
          <a:p xmlns:a="http://schemas.openxmlformats.org/drawingml/2006/main">
            <a:r>
              <a:t>https://www.investor.gov/introduction-investing/getting-started/asset-allocation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Ask students: Which area has little exposure, and which different area do they want to emphasize? These sample funds illustrate exposure, not a recommendation. Check current fund pages for holdings and costs.</a:t>
            </a:r>
          </a:p>
          <a:p xmlns:a="http://schemas.openxmlformats.org/drawingml/2006/main">
            <a:r>
              <a:t/>
            </a:r>
          </a:p>
          <a:p xmlns:a="http://schemas.openxmlformats.org/drawingml/2006/main">
            <a:r>
              <a:t>Sources:</a:t>
            </a:r>
          </a:p>
          <a:p xmlns:a="http://schemas.openxmlformats.org/drawingml/2006/main">
            <a:r>
              <a:t>https://www.investor.gov/introduction-investing/getting-started/asset-allocation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app checks for two different current ETF holdings. Broad, sector, and thematic funds count; single asset products do not. The teacher judges whether each explanation connects the fund to the stated goal. No fixed spending minimum and no requirement to preserve Module 2 holdings.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Model answer only. Students should use their own actual portfolio and fund research. Ask the class to identify both goals, the fund fit, overlap, and remaining risks. Do not grade on agreement with one ticker.</a:t>
            </a:r>
          </a:p>
          <a:p xmlns:a="http://schemas.openxmlformats.org/drawingml/2006/main">
            <a:r>
              <a:t/>
            </a:r>
          </a:p>
          <a:p xmlns:a="http://schemas.openxmlformats.org/drawingml/2006/main">
            <a:r>
              <a:t>Sources:</a:t>
            </a:r>
          </a:p>
          <a:p xmlns:a="http://schemas.openxmlformats.org/drawingml/2006/main">
            <a:r>
              <a:t>https://www.investor.gov/introduction-investing/getting-started/asset-allocation</a:t>
            </a:r>
          </a:p>
          <a:p xmlns:a="http://schemas.openxmlformats.org/drawingml/2006/main">
            <a:r>
              <a:t>https://www.investor.gov/introduction-investing/general-resources/news-alerts/alerts-bulletins/investor-bulletins/mutual-fund-and-etf-fees-and-expenses-investor-bulletin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Collect responses before independent work. Ask students to name a concrete holding or sector in their current portfolio.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9956ed24d6249d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e77752bc4e54c91" /><Relationship Type="http://schemas.openxmlformats.org/officeDocument/2006/relationships/slideLayout" Target="/ppt/slideLayouts/slideLayout1.xml" Id="R5ab128c0b00d48d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ab128c0b00d48d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64301a0842542de" /><Relationship Type="http://schemas.openxmlformats.org/officeDocument/2006/relationships/notesSlide" Target="/ppt/notesSlides/notesSlide1.xml" Id="Re90f9181599d4c4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1ccf449c27d4784" /><Relationship Type="http://schemas.openxmlformats.org/officeDocument/2006/relationships/notesSlide" Target="/ppt/notesSlides/notesSlide2.xml" Id="Rcf53024f9f1c4b0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1b18f4b3b324eb6" /><Relationship Type="http://schemas.openxmlformats.org/officeDocument/2006/relationships/notesSlide" Target="/ppt/notesSlides/notesSlide3.xml" Id="Rcfa83be04d0145a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26715fea9494bde" /><Relationship Type="http://schemas.openxmlformats.org/officeDocument/2006/relationships/notesSlide" Target="/ppt/notesSlides/notesSlide4.xml" Id="Rb21c7953086f4f2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e41f7b6d35448ee" /><Relationship Type="http://schemas.openxmlformats.org/officeDocument/2006/relationships/notesSlide" Target="/ppt/notesSlides/notesSlide5.xml" Id="R60071cf8f2a64f6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9bd94af796c48b8" /><Relationship Type="http://schemas.openxmlformats.org/officeDocument/2006/relationships/notesSlide" Target="/ppt/notesSlides/notesSlide6.xml" Id="R80c92abb742a4b5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391a54e7e64416c" /><Relationship Type="http://schemas.openxmlformats.org/officeDocument/2006/relationships/notesSlide" Target="/ppt/notesSlides/notesSlide7.xml" Id="Rf396c26999e9401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125f5c6bf5747d5" /><Relationship Type="http://schemas.openxmlformats.org/officeDocument/2006/relationships/notesSlide" Target="/ppt/notesSlides/notesSlide8.xml" Id="Ra9540d531dec44c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eff40d6c3584123" /><Relationship Type="http://schemas.openxmlformats.org/officeDocument/2006/relationships/notesSlide" Target="/ppt/notesSlides/notesSlide9.xml" Id="Ra410b6cb205a4ef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e9ebd92e8fdb4f4a" /><Relationship Type="http://schemas.openxmlformats.org/officeDocument/2006/relationships/notesSlide" Target="/ppt/notesSlides/notesSlide10.xml" Id="R5fb6732b5525412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6ced49d9fd144e2" /><Relationship Type="http://schemas.openxmlformats.org/officeDocument/2006/relationships/notesSlide" Target="/ppt/notesSlides/notesSlide11.xml" Id="R079d5b982f0f413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cf251378f30c4037" /><Relationship Type="http://schemas.openxmlformats.org/officeDocument/2006/relationships/notesSlide" Target="/ppt/notesSlides/notesSlide12.xml" Id="Rce4fbde4341445a0" /></Relationships>
</file>

<file path=ppt/slides/slide1.xml><?xml version="1.0" encoding="utf-8"?>
<p:sld xmlns:p="http://schemas.openxmlformats.org/presentationml/2006/main">
  <p:cSld>
    <p:bg>
      <p:bgPr>
        <a:solidFill xmlns:a="http://schemas.openxmlformats.org/drawingml/2006/main">
          <a:srgbClr val="555B34"/>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9860AB7-6138-45B3-BD64-73FE2B3EC5F6}"/>
              </a:ext>
            </a:extLst>
          </p:cNvPr>
          <p:cNvSpPr>
            <a:spLocks xmlns:a="http://schemas.openxmlformats.org/drawingml/2006/main" noGrp="1"/>
          </p:cNvSpPr>
          <p:nvPr/>
        </p:nvSpPr>
        <p:spPr>
          <a:xfrm xmlns:a="http://schemas.openxmlformats.org/drawingml/2006/main">
            <a:off x="609600" y="32385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E8EBDF"/>
                </a:solidFill>
                <a:latin typeface="Arial"/>
                <a:ea typeface="Arial"/>
                <a:cs typeface="Arial"/>
              </a:defRPr>
            </a:pPr>
            <a:r>
              <a:rPr sz="1275" b="1">
                <a:solidFill>
                  <a:srgbClr val="E8EBDF"/>
                </a:solidFill>
                <a:latin typeface="Arial"/>
                <a:ea typeface="Arial"/>
                <a:cs typeface="Arial"/>
              </a:rPr>
              <a:t>SIMLIFE  /  INVESTING  /  MODULE 3</a:t>
            </a:r>
          </a:p>
        </p:txBody>
      </p:sp>
      <p:sp>
        <p:nvSpPr>
          <p:cNvPr id="2" name="">
            <a:extLst xmlns:a="http://schemas.openxmlformats.org/drawingml/2006/main">
              <a:ext uri="{FF2B5EF4-FFF2-40B4-BE49-F238E27FC236}">
                <a16:creationId xmlns:a16="http://schemas.microsoft.com/office/drawing/2014/main" id="{AFB14DD9-1369-4395-96D7-84E9E3F796FB}"/>
              </a:ext>
            </a:extLst>
          </p:cNvPr>
          <p:cNvSpPr>
            <a:spLocks xmlns:a="http://schemas.openxmlformats.org/drawingml/2006/main" noGrp="1"/>
          </p:cNvSpPr>
          <p:nvPr/>
        </p:nvSpPr>
        <p:spPr>
          <a:xfrm xmlns:a="http://schemas.openxmlformats.org/drawingml/2006/main">
            <a:off x="609600" y="866775"/>
            <a:ext cx="108585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100" b="1">
                <a:solidFill>
                  <a:srgbClr val="FFFFFF"/>
                </a:solidFill>
                <a:latin typeface="Georgia"/>
                <a:ea typeface="Georgia"/>
                <a:cs typeface="Georgia"/>
              </a:defRPr>
            </a:pPr>
            <a:r>
              <a:rPr sz="5100" b="1">
                <a:solidFill>
                  <a:srgbClr val="FFFFFF"/>
                </a:solidFill>
                <a:latin typeface="Georgia"/>
                <a:ea typeface="Georgia"/>
                <a:cs typeface="Georgia"/>
              </a:rPr>
              <a:t>One ticker can hold a basket</a:t>
            </a:r>
          </a:p>
        </p:txBody>
      </p:sp>
      <p:sp>
        <p:nvSpPr>
          <p:cNvPr id="3" name="">
            <a:extLst xmlns:a="http://schemas.openxmlformats.org/drawingml/2006/main">
              <a:ext uri="{FF2B5EF4-FFF2-40B4-BE49-F238E27FC236}">
                <a16:creationId xmlns:a16="http://schemas.microsoft.com/office/drawing/2014/main" id="{CA8F09AD-964C-4DEA-BE07-D015CEBAE220}"/>
              </a:ext>
            </a:extLst>
          </p:cNvPr>
          <p:cNvSpPr>
            <a:spLocks xmlns:a="http://schemas.openxmlformats.org/drawingml/2006/main" noGrp="1"/>
          </p:cNvSpPr>
          <p:nvPr/>
        </p:nvSpPr>
        <p:spPr>
          <a:xfrm xmlns:a="http://schemas.openxmlformats.org/drawingml/2006/main">
            <a:off x="11049000" y="61912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8EBDF"/>
                </a:solidFill>
                <a:latin typeface="Arial"/>
                <a:ea typeface="Arial"/>
                <a:cs typeface="Arial"/>
              </a:defRPr>
            </a:pPr>
            <a:r>
              <a:rPr sz="1200" b="1">
                <a:solidFill>
                  <a:srgbClr val="E8EBDF"/>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2A2C137A-E192-4006-9EC4-7CA8EC821ACD}"/>
              </a:ext>
            </a:extLst>
          </p:cNvPr>
          <p:cNvSpPr>
            <a:spLocks xmlns:a="http://schemas.openxmlformats.org/drawingml/2006/main" noGrp="1"/>
          </p:cNvSpPr>
          <p:nvPr/>
        </p:nvSpPr>
        <p:spPr>
          <a:xfrm xmlns:a="http://schemas.openxmlformats.org/drawingml/2006/main">
            <a:off x="666750" y="2619375"/>
            <a:ext cx="10096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E8EBDF"/>
                </a:solidFill>
                <a:latin typeface="Arial"/>
                <a:ea typeface="Arial"/>
                <a:cs typeface="Arial"/>
              </a:defRPr>
            </a:pPr>
            <a:r>
              <a:rPr sz="2325" b="0">
                <a:solidFill>
                  <a:srgbClr val="E8EBDF"/>
                </a:solidFill>
                <a:latin typeface="Arial"/>
                <a:ea typeface="Arial"/>
                <a:cs typeface="Arial"/>
              </a:rPr>
              <a:t>Exchange traded funds  ·  Portfolio balance  ·  Your next decision</a:t>
            </a:r>
          </a:p>
        </p:txBody>
      </p:sp>
      <p:sp>
        <p:nvSpPr>
          <p:cNvPr id="5" name="">
            <a:extLst xmlns:a="http://schemas.openxmlformats.org/drawingml/2006/main">
              <a:ext uri="{FF2B5EF4-FFF2-40B4-BE49-F238E27FC236}">
                <a16:creationId xmlns:a16="http://schemas.microsoft.com/office/drawing/2014/main" id="{F0639318-249D-4899-BFC2-4C9F3C418496}"/>
              </a:ext>
            </a:extLst>
          </p:cNvPr>
          <p:cNvSpPr>
            <a:spLocks xmlns:a="http://schemas.openxmlformats.org/drawingml/2006/main" noGrp="1"/>
          </p:cNvSpPr>
          <p:nvPr/>
        </p:nvSpPr>
        <p:spPr>
          <a:xfrm xmlns:a="http://schemas.openxmlformats.org/drawingml/2006/main">
            <a:off x="666750" y="4419600"/>
            <a:ext cx="9810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FFFFFF"/>
                </a:solidFill>
                <a:latin typeface="Arial"/>
                <a:ea typeface="Arial"/>
                <a:cs typeface="Arial"/>
              </a:defRPr>
            </a:pPr>
            <a:r>
              <a:rPr sz="2100" b="0">
                <a:solidFill>
                  <a:srgbClr val="FFFFFF"/>
                </a:solidFill>
                <a:latin typeface="Arial"/>
                <a:ea typeface="Arial"/>
                <a:cs typeface="Arial"/>
              </a:rPr>
              <a:t>Today: use one ETF to fill a gap and another to back an idea you believe in.</a:t>
            </a:r>
          </a:p>
        </p:txBody>
      </p:sp>
    </p:spTree>
    <p:extLst>
      <p:ext uri="{BB962C8B-B14F-4D97-AF65-F5344CB8AC3E}">
        <p14:creationId xmlns:p14="http://schemas.microsoft.com/office/powerpoint/2010/main" val="229057472"/>
      </p:ext>
    </p:extLst>
  </p:cSld>
</p:sld>
</file>

<file path=ppt/slides/slide2.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3365FAC-EF22-4AA5-BFB7-71A0C0E686AA}"/>
              </a:ext>
            </a:extLst>
          </p:cNvPr>
          <p:cNvSpPr>
            <a:spLocks xmlns:a="http://schemas.openxmlformats.org/drawingml/2006/main" noGrp="1"/>
          </p:cNvSpPr>
          <p:nvPr/>
        </p:nvSpPr>
        <p:spPr>
          <a:xfrm xmlns:a="http://schemas.openxmlformats.org/drawingml/2006/main">
            <a:off x="609600" y="32385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555B34"/>
                </a:solidFill>
                <a:latin typeface="Arial"/>
                <a:ea typeface="Arial"/>
                <a:cs typeface="Arial"/>
              </a:defRPr>
            </a:pPr>
            <a:r>
              <a:rPr sz="1275" b="1">
                <a:solidFill>
                  <a:srgbClr val="555B34"/>
                </a:solidFill>
                <a:latin typeface="Arial"/>
                <a:ea typeface="Arial"/>
                <a:cs typeface="Arial"/>
              </a:rPr>
              <a:t>SIMLIFE  /  INVESTING  /  MODULE 3</a:t>
            </a:r>
          </a:p>
        </p:txBody>
      </p:sp>
      <p:sp>
        <p:nvSpPr>
          <p:cNvPr id="2" name="">
            <a:extLst xmlns:a="http://schemas.openxmlformats.org/drawingml/2006/main">
              <a:ext uri="{FF2B5EF4-FFF2-40B4-BE49-F238E27FC236}">
                <a16:creationId xmlns:a16="http://schemas.microsoft.com/office/drawing/2014/main" id="{74FE76A5-71D3-42C6-A20D-8E6014C45A03}"/>
              </a:ext>
            </a:extLst>
          </p:cNvPr>
          <p:cNvSpPr>
            <a:spLocks xmlns:a="http://schemas.openxmlformats.org/drawingml/2006/main" noGrp="1"/>
          </p:cNvSpPr>
          <p:nvPr/>
        </p:nvSpPr>
        <p:spPr>
          <a:xfrm xmlns:a="http://schemas.openxmlformats.org/drawingml/2006/main">
            <a:off x="609600" y="866775"/>
            <a:ext cx="108585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22231D"/>
                </a:solidFill>
                <a:latin typeface="Georgia"/>
                <a:ea typeface="Georgia"/>
                <a:cs typeface="Georgia"/>
              </a:defRPr>
            </a:pPr>
            <a:r>
              <a:rPr sz="3375" b="1">
                <a:solidFill>
                  <a:srgbClr val="22231D"/>
                </a:solidFill>
                <a:latin typeface="Georgia"/>
                <a:ea typeface="Georgia"/>
                <a:cs typeface="Georgia"/>
              </a:rPr>
              <a:t>What is an ETF?</a:t>
            </a:r>
          </a:p>
        </p:txBody>
      </p:sp>
      <p:sp>
        <p:nvSpPr>
          <p:cNvPr id="3" name="">
            <a:extLst xmlns:a="http://schemas.openxmlformats.org/drawingml/2006/main">
              <a:ext uri="{FF2B5EF4-FFF2-40B4-BE49-F238E27FC236}">
                <a16:creationId xmlns:a16="http://schemas.microsoft.com/office/drawing/2014/main" id="{8FB6FA2E-065A-425B-ABC9-607684AAE7DC}"/>
              </a:ext>
            </a:extLst>
          </p:cNvPr>
          <p:cNvSpPr>
            <a:spLocks xmlns:a="http://schemas.openxmlformats.org/drawingml/2006/main" noGrp="1"/>
          </p:cNvSpPr>
          <p:nvPr/>
        </p:nvSpPr>
        <p:spPr>
          <a:xfrm xmlns:a="http://schemas.openxmlformats.org/drawingml/2006/main">
            <a:off x="11049000" y="61912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686B5E"/>
                </a:solidFill>
                <a:latin typeface="Arial"/>
                <a:ea typeface="Arial"/>
                <a:cs typeface="Arial"/>
              </a:defRPr>
            </a:pPr>
            <a:r>
              <a:rPr sz="1200" b="1">
                <a:solidFill>
                  <a:srgbClr val="686B5E"/>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7D6BAE29-7D63-4782-A255-7F9228E65AB2}"/>
              </a:ext>
            </a:extLst>
          </p:cNvPr>
          <p:cNvSpPr>
            <a:spLocks xmlns:a="http://schemas.openxmlformats.org/drawingml/2006/main" noGrp="1"/>
          </p:cNvSpPr>
          <p:nvPr/>
        </p:nvSpPr>
        <p:spPr>
          <a:xfrm xmlns:a="http://schemas.openxmlformats.org/drawingml/2006/main">
            <a:off x="762000" y="2171700"/>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22231D"/>
                </a:solidFill>
                <a:latin typeface="Arial"/>
                <a:ea typeface="Arial"/>
                <a:cs typeface="Arial"/>
              </a:defRPr>
            </a:pPr>
            <a:r>
              <a:rPr sz="2325" b="0">
                <a:solidFill>
                  <a:srgbClr val="22231D"/>
                </a:solidFill>
                <a:latin typeface="Arial"/>
                <a:ea typeface="Arial"/>
                <a:cs typeface="Arial"/>
              </a:rPr>
              <a:t>An ETF is a fund that trades on an exchange under a ticker, like a stock.</a:t>
            </a:r>
          </a:p>
        </p:txBody>
      </p:sp>
      <p:sp>
        <p:nvSpPr>
          <p:cNvPr id="5" name="">
            <a:extLst xmlns:a="http://schemas.openxmlformats.org/drawingml/2006/main">
              <a:ext uri="{FF2B5EF4-FFF2-40B4-BE49-F238E27FC236}">
                <a16:creationId xmlns:a16="http://schemas.microsoft.com/office/drawing/2014/main" id="{EE22F770-8B4B-4C93-8089-D931D0C718AA}"/>
              </a:ext>
            </a:extLst>
          </p:cNvPr>
          <p:cNvSpPr>
            <a:spLocks xmlns:a="http://schemas.openxmlformats.org/drawingml/2006/main" noGrp="1"/>
          </p:cNvSpPr>
          <p:nvPr/>
        </p:nvSpPr>
        <p:spPr>
          <a:xfrm xmlns:a="http://schemas.openxmlformats.org/drawingml/2006/main">
            <a:off x="762000" y="3333750"/>
            <a:ext cx="1028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555B34"/>
                </a:solidFill>
                <a:latin typeface="Arial"/>
                <a:ea typeface="Arial"/>
                <a:cs typeface="Arial"/>
              </a:defRPr>
            </a:pPr>
            <a:r>
              <a:rPr sz="2325" b="1">
                <a:solidFill>
                  <a:srgbClr val="555B34"/>
                </a:solidFill>
                <a:latin typeface="Arial"/>
                <a:ea typeface="Arial"/>
                <a:cs typeface="Arial"/>
              </a:rPr>
              <a:t>The fund owns a basket of investments. You own shares of the fund.</a:t>
            </a:r>
          </a:p>
        </p:txBody>
      </p:sp>
      <p:sp>
        <p:nvSpPr>
          <p:cNvPr id="6" name="">
            <a:extLst xmlns:a="http://schemas.openxmlformats.org/drawingml/2006/main">
              <a:ext uri="{FF2B5EF4-FFF2-40B4-BE49-F238E27FC236}">
                <a16:creationId xmlns:a16="http://schemas.microsoft.com/office/drawing/2014/main" id="{DFCD0BC0-BACD-47A9-ADC0-721EAD9632CD}"/>
              </a:ext>
            </a:extLst>
          </p:cNvPr>
          <p:cNvSpPr>
            <a:spLocks xmlns:a="http://schemas.openxmlformats.org/drawingml/2006/main" noGrp="1"/>
          </p:cNvSpPr>
          <p:nvPr/>
        </p:nvSpPr>
        <p:spPr>
          <a:xfrm xmlns:a="http://schemas.openxmlformats.org/drawingml/2006/main">
            <a:off x="762000" y="4524375"/>
            <a:ext cx="1028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22231D"/>
                </a:solidFill>
                <a:latin typeface="Arial"/>
                <a:ea typeface="Arial"/>
                <a:cs typeface="Arial"/>
              </a:defRPr>
            </a:pPr>
            <a:r>
              <a:rPr sz="2100" b="0">
                <a:solidFill>
                  <a:srgbClr val="22231D"/>
                </a:solidFill>
                <a:latin typeface="Arial"/>
                <a:ea typeface="Arial"/>
                <a:cs typeface="Arial"/>
              </a:rPr>
              <a:t>The basket might contain stocks, bonds, or a much narrower asset.</a:t>
            </a:r>
          </a:p>
        </p:txBody>
      </p:sp>
    </p:spTree>
    <p:extLst>
      <p:ext uri="{BB962C8B-B14F-4D97-AF65-F5344CB8AC3E}">
        <p14:creationId xmlns:p14="http://schemas.microsoft.com/office/powerpoint/2010/main" val="1301499005"/>
      </p:ext>
    </p:extLst>
  </p:cSld>
</p:sld>
</file>

<file path=ppt/slides/slide3.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5F96D3A-CAE3-4073-BBBC-90D6CC34DA8C}"/>
              </a:ext>
            </a:extLst>
          </p:cNvPr>
          <p:cNvSpPr>
            <a:spLocks xmlns:a="http://schemas.openxmlformats.org/drawingml/2006/main" noGrp="1"/>
          </p:cNvSpPr>
          <p:nvPr/>
        </p:nvSpPr>
        <p:spPr>
          <a:xfrm xmlns:a="http://schemas.openxmlformats.org/drawingml/2006/main">
            <a:off x="609600" y="32385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555B34"/>
                </a:solidFill>
                <a:latin typeface="Arial"/>
                <a:ea typeface="Arial"/>
                <a:cs typeface="Arial"/>
              </a:defRPr>
            </a:pPr>
            <a:r>
              <a:rPr sz="1275" b="1">
                <a:solidFill>
                  <a:srgbClr val="555B34"/>
                </a:solidFill>
                <a:latin typeface="Arial"/>
                <a:ea typeface="Arial"/>
                <a:cs typeface="Arial"/>
              </a:rPr>
              <a:t>SIMLIFE  /  INVESTING  /  MODULE 3</a:t>
            </a:r>
          </a:p>
        </p:txBody>
      </p:sp>
      <p:sp>
        <p:nvSpPr>
          <p:cNvPr id="2" name="">
            <a:extLst xmlns:a="http://schemas.openxmlformats.org/drawingml/2006/main">
              <a:ext uri="{FF2B5EF4-FFF2-40B4-BE49-F238E27FC236}">
                <a16:creationId xmlns:a16="http://schemas.microsoft.com/office/drawing/2014/main" id="{F21AB68F-AABD-476B-B31B-08A1D8A1E404}"/>
              </a:ext>
            </a:extLst>
          </p:cNvPr>
          <p:cNvSpPr>
            <a:spLocks xmlns:a="http://schemas.openxmlformats.org/drawingml/2006/main" noGrp="1"/>
          </p:cNvSpPr>
          <p:nvPr/>
        </p:nvSpPr>
        <p:spPr>
          <a:xfrm xmlns:a="http://schemas.openxmlformats.org/drawingml/2006/main">
            <a:off x="609600" y="866775"/>
            <a:ext cx="108585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22231D"/>
                </a:solidFill>
                <a:latin typeface="Georgia"/>
                <a:ea typeface="Georgia"/>
                <a:cs typeface="Georgia"/>
              </a:defRPr>
            </a:pPr>
            <a:r>
              <a:rPr sz="3375" b="1">
                <a:solidFill>
                  <a:srgbClr val="22231D"/>
                </a:solidFill>
                <a:latin typeface="Georgia"/>
                <a:ea typeface="Georgia"/>
                <a:cs typeface="Georgia"/>
              </a:rPr>
              <a:t>One company versus a fund</a:t>
            </a:r>
          </a:p>
        </p:txBody>
      </p:sp>
      <p:sp>
        <p:nvSpPr>
          <p:cNvPr id="3" name="">
            <a:extLst xmlns:a="http://schemas.openxmlformats.org/drawingml/2006/main">
              <a:ext uri="{FF2B5EF4-FFF2-40B4-BE49-F238E27FC236}">
                <a16:creationId xmlns:a16="http://schemas.microsoft.com/office/drawing/2014/main" id="{F3E3ED20-4B6F-45C1-8144-62CC15380597}"/>
              </a:ext>
            </a:extLst>
          </p:cNvPr>
          <p:cNvSpPr>
            <a:spLocks xmlns:a="http://schemas.openxmlformats.org/drawingml/2006/main" noGrp="1"/>
          </p:cNvSpPr>
          <p:nvPr/>
        </p:nvSpPr>
        <p:spPr>
          <a:xfrm xmlns:a="http://schemas.openxmlformats.org/drawingml/2006/main">
            <a:off x="11049000" y="61912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686B5E"/>
                </a:solidFill>
                <a:latin typeface="Arial"/>
                <a:ea typeface="Arial"/>
                <a:cs typeface="Arial"/>
              </a:defRPr>
            </a:pPr>
            <a:r>
              <a:rPr sz="1200" b="1">
                <a:solidFill>
                  <a:srgbClr val="686B5E"/>
                </a:solidFill>
                <a:latin typeface="Arial"/>
                <a:ea typeface="Arial"/>
                <a:cs typeface="Arial"/>
              </a:rPr>
              <a:t>03</a:t>
            </a:r>
          </a:p>
        </p:txBody>
      </p:sp>
      <p:sp>
        <p:nvSpPr>
          <p:cNvPr id="4" name="">
            <a:extLst xmlns:a="http://schemas.openxmlformats.org/drawingml/2006/main">
              <a:ext uri="{FF2B5EF4-FFF2-40B4-BE49-F238E27FC236}">
                <a16:creationId xmlns:a16="http://schemas.microsoft.com/office/drawing/2014/main" id="{4D5F2088-7672-4B0A-9693-DC1A1AD806D5}"/>
              </a:ext>
            </a:extLst>
          </p:cNvPr>
          <p:cNvSpPr>
            <a:spLocks xmlns:a="http://schemas.openxmlformats.org/drawingml/2006/main" noGrp="1"/>
          </p:cNvSpPr>
          <p:nvPr/>
        </p:nvSpPr>
        <p:spPr>
          <a:xfrm xmlns:a="http://schemas.openxmlformats.org/drawingml/2006/main">
            <a:off x="809625" y="2333625"/>
            <a:ext cx="323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555B34"/>
                </a:solidFill>
                <a:latin typeface="Georgia"/>
                <a:ea typeface="Georgia"/>
                <a:cs typeface="Georgia"/>
              </a:defRPr>
            </a:pPr>
            <a:r>
              <a:rPr sz="3450" b="1">
                <a:solidFill>
                  <a:srgbClr val="555B34"/>
                </a:solidFill>
                <a:latin typeface="Georgia"/>
                <a:ea typeface="Georgia"/>
                <a:cs typeface="Georgia"/>
              </a:rPr>
              <a:t>AAPL</a:t>
            </a:r>
          </a:p>
        </p:txBody>
      </p:sp>
      <p:sp>
        <p:nvSpPr>
          <p:cNvPr id="5" name="">
            <a:extLst xmlns:a="http://schemas.openxmlformats.org/drawingml/2006/main">
              <a:ext uri="{FF2B5EF4-FFF2-40B4-BE49-F238E27FC236}">
                <a16:creationId xmlns:a16="http://schemas.microsoft.com/office/drawing/2014/main" id="{C85492DE-F2DE-48A7-9774-6B836B5C11F3}"/>
              </a:ext>
            </a:extLst>
          </p:cNvPr>
          <p:cNvSpPr>
            <a:spLocks xmlns:a="http://schemas.openxmlformats.org/drawingml/2006/main" noGrp="1"/>
          </p:cNvSpPr>
          <p:nvPr/>
        </p:nvSpPr>
        <p:spPr>
          <a:xfrm xmlns:a="http://schemas.openxmlformats.org/drawingml/2006/main">
            <a:off x="809625" y="3048000"/>
            <a:ext cx="3238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22231D"/>
                </a:solidFill>
                <a:latin typeface="Arial"/>
                <a:ea typeface="Arial"/>
                <a:cs typeface="Arial"/>
              </a:defRPr>
            </a:pPr>
            <a:r>
              <a:rPr sz="1950" b="0">
                <a:solidFill>
                  <a:srgbClr val="22231D"/>
                </a:solidFill>
                <a:latin typeface="Arial"/>
                <a:ea typeface="Arial"/>
                <a:cs typeface="Arial"/>
              </a:rPr>
              <a:t>One company</a:t>
            </a:r>
          </a:p>
        </p:txBody>
      </p:sp>
      <p:sp>
        <p:nvSpPr>
          <p:cNvPr id="6" name="">
            <a:extLst xmlns:a="http://schemas.openxmlformats.org/drawingml/2006/main">
              <a:ext uri="{FF2B5EF4-FFF2-40B4-BE49-F238E27FC236}">
                <a16:creationId xmlns:a16="http://schemas.microsoft.com/office/drawing/2014/main" id="{B766CDC9-2D12-45DB-8F9E-767B7B142010}"/>
              </a:ext>
            </a:extLst>
          </p:cNvPr>
          <p:cNvSpPr>
            <a:spLocks xmlns:a="http://schemas.openxmlformats.org/drawingml/2006/main" noGrp="1"/>
          </p:cNvSpPr>
          <p:nvPr/>
        </p:nvSpPr>
        <p:spPr>
          <a:xfrm xmlns:a="http://schemas.openxmlformats.org/drawingml/2006/main">
            <a:off x="6143625" y="2333625"/>
            <a:ext cx="323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555B34"/>
                </a:solidFill>
                <a:latin typeface="Georgia"/>
                <a:ea typeface="Georgia"/>
                <a:cs typeface="Georgia"/>
              </a:defRPr>
            </a:pPr>
            <a:r>
              <a:rPr sz="3450" b="1">
                <a:solidFill>
                  <a:srgbClr val="555B34"/>
                </a:solidFill>
                <a:latin typeface="Georgia"/>
                <a:ea typeface="Georgia"/>
                <a:cs typeface="Georgia"/>
              </a:rPr>
              <a:t>VTI</a:t>
            </a:r>
          </a:p>
        </p:txBody>
      </p:sp>
      <p:sp>
        <p:nvSpPr>
          <p:cNvPr id="7" name="">
            <a:extLst xmlns:a="http://schemas.openxmlformats.org/drawingml/2006/main">
              <a:ext uri="{FF2B5EF4-FFF2-40B4-BE49-F238E27FC236}">
                <a16:creationId xmlns:a16="http://schemas.microsoft.com/office/drawing/2014/main" id="{3515649F-E184-438C-934F-12E5AC2AB676}"/>
              </a:ext>
            </a:extLst>
          </p:cNvPr>
          <p:cNvSpPr>
            <a:spLocks xmlns:a="http://schemas.openxmlformats.org/drawingml/2006/main" noGrp="1"/>
          </p:cNvSpPr>
          <p:nvPr/>
        </p:nvSpPr>
        <p:spPr>
          <a:xfrm xmlns:a="http://schemas.openxmlformats.org/drawingml/2006/main">
            <a:off x="6143625" y="3048000"/>
            <a:ext cx="4667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22231D"/>
                </a:solidFill>
                <a:latin typeface="Arial"/>
                <a:ea typeface="Arial"/>
                <a:cs typeface="Arial"/>
              </a:defRPr>
            </a:pPr>
            <a:r>
              <a:rPr sz="1950" b="0">
                <a:solidFill>
                  <a:srgbClr val="22231D"/>
                </a:solidFill>
                <a:latin typeface="Arial"/>
                <a:ea typeface="Arial"/>
                <a:cs typeface="Arial"/>
              </a:rPr>
              <a:t>A broad U.S. stock fund</a:t>
            </a:r>
          </a:p>
        </p:txBody>
      </p:sp>
      <p:sp>
        <p:nvSpPr>
          <p:cNvPr id="8" name="">
            <a:extLst xmlns:a="http://schemas.openxmlformats.org/drawingml/2006/main">
              <a:ext uri="{FF2B5EF4-FFF2-40B4-BE49-F238E27FC236}">
                <a16:creationId xmlns:a16="http://schemas.microsoft.com/office/drawing/2014/main" id="{5993D9B5-D758-4656-9DF3-76C939E859AD}"/>
              </a:ext>
            </a:extLst>
          </p:cNvPr>
          <p:cNvSpPr>
            <a:spLocks xmlns:a="http://schemas.openxmlformats.org/drawingml/2006/main" noGrp="1"/>
          </p:cNvSpPr>
          <p:nvPr/>
        </p:nvSpPr>
        <p:spPr>
          <a:xfrm xmlns:a="http://schemas.openxmlformats.org/drawingml/2006/main">
            <a:off x="809625" y="4714875"/>
            <a:ext cx="1000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22231D"/>
                </a:solidFill>
                <a:latin typeface="Arial"/>
                <a:ea typeface="Arial"/>
                <a:cs typeface="Arial"/>
              </a:defRPr>
            </a:pPr>
            <a:r>
              <a:rPr sz="2250" b="0">
                <a:solidFill>
                  <a:srgbClr val="22231D"/>
                </a:solidFill>
                <a:latin typeface="Arial"/>
                <a:ea typeface="Arial"/>
                <a:cs typeface="Arial"/>
              </a:rPr>
              <a:t>Both have a ticker and a changing market price. Their underlying risks differ.</a:t>
            </a:r>
          </a:p>
        </p:txBody>
      </p:sp>
    </p:spTree>
    <p:extLst>
      <p:ext uri="{BB962C8B-B14F-4D97-AF65-F5344CB8AC3E}">
        <p14:creationId xmlns:p14="http://schemas.microsoft.com/office/powerpoint/2010/main" val="1411391271"/>
      </p:ext>
    </p:extLst>
  </p:cSld>
</p:sld>
</file>

<file path=ppt/slides/slide4.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D9E71C1-27B7-4E6F-9A95-A0E593683E90}"/>
              </a:ext>
            </a:extLst>
          </p:cNvPr>
          <p:cNvSpPr>
            <a:spLocks xmlns:a="http://schemas.openxmlformats.org/drawingml/2006/main" noGrp="1"/>
          </p:cNvSpPr>
          <p:nvPr/>
        </p:nvSpPr>
        <p:spPr>
          <a:xfrm xmlns:a="http://schemas.openxmlformats.org/drawingml/2006/main">
            <a:off x="609600" y="32385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555B34"/>
                </a:solidFill>
                <a:latin typeface="Arial"/>
                <a:ea typeface="Arial"/>
                <a:cs typeface="Arial"/>
              </a:defRPr>
            </a:pPr>
            <a:r>
              <a:rPr sz="1275" b="1">
                <a:solidFill>
                  <a:srgbClr val="555B34"/>
                </a:solidFill>
                <a:latin typeface="Arial"/>
                <a:ea typeface="Arial"/>
                <a:cs typeface="Arial"/>
              </a:rPr>
              <a:t>SIMLIFE  /  INVESTING  /  MODULE 3</a:t>
            </a:r>
          </a:p>
        </p:txBody>
      </p:sp>
      <p:sp>
        <p:nvSpPr>
          <p:cNvPr id="2" name="">
            <a:extLst xmlns:a="http://schemas.openxmlformats.org/drawingml/2006/main">
              <a:ext uri="{FF2B5EF4-FFF2-40B4-BE49-F238E27FC236}">
                <a16:creationId xmlns:a16="http://schemas.microsoft.com/office/drawing/2014/main" id="{940DAAB8-03CE-4141-9111-87F02A8792EC}"/>
              </a:ext>
            </a:extLst>
          </p:cNvPr>
          <p:cNvSpPr>
            <a:spLocks xmlns:a="http://schemas.openxmlformats.org/drawingml/2006/main" noGrp="1"/>
          </p:cNvSpPr>
          <p:nvPr/>
        </p:nvSpPr>
        <p:spPr>
          <a:xfrm xmlns:a="http://schemas.openxmlformats.org/drawingml/2006/main">
            <a:off x="609600" y="866775"/>
            <a:ext cx="108585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22231D"/>
                </a:solidFill>
                <a:latin typeface="Georgia"/>
                <a:ea typeface="Georgia"/>
                <a:cs typeface="Georgia"/>
              </a:defRPr>
            </a:pPr>
            <a:r>
              <a:rPr sz="3375" b="1">
                <a:solidFill>
                  <a:srgbClr val="22231D"/>
                </a:solidFill>
                <a:latin typeface="Georgia"/>
                <a:ea typeface="Georgia"/>
                <a:cs typeface="Georgia"/>
              </a:rPr>
              <a:t>An ETF ticker does not tell the whole story</a:t>
            </a:r>
          </a:p>
        </p:txBody>
      </p:sp>
      <p:sp>
        <p:nvSpPr>
          <p:cNvPr id="3" name="">
            <a:extLst xmlns:a="http://schemas.openxmlformats.org/drawingml/2006/main">
              <a:ext uri="{FF2B5EF4-FFF2-40B4-BE49-F238E27FC236}">
                <a16:creationId xmlns:a16="http://schemas.microsoft.com/office/drawing/2014/main" id="{3F35469D-C745-4B52-BF25-B0BDCD588906}"/>
              </a:ext>
            </a:extLst>
          </p:cNvPr>
          <p:cNvSpPr>
            <a:spLocks xmlns:a="http://schemas.openxmlformats.org/drawingml/2006/main" noGrp="1"/>
          </p:cNvSpPr>
          <p:nvPr/>
        </p:nvSpPr>
        <p:spPr>
          <a:xfrm xmlns:a="http://schemas.openxmlformats.org/drawingml/2006/main">
            <a:off x="11049000" y="61912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686B5E"/>
                </a:solidFill>
                <a:latin typeface="Arial"/>
                <a:ea typeface="Arial"/>
                <a:cs typeface="Arial"/>
              </a:defRPr>
            </a:pPr>
            <a:r>
              <a:rPr sz="1200" b="1">
                <a:solidFill>
                  <a:srgbClr val="686B5E"/>
                </a:solidFill>
                <a:latin typeface="Arial"/>
                <a:ea typeface="Arial"/>
                <a:cs typeface="Arial"/>
              </a:rPr>
              <a:t>04</a:t>
            </a:r>
          </a:p>
        </p:txBody>
      </p:sp>
      <p:sp>
        <p:nvSpPr>
          <p:cNvPr id="4" name="">
            <a:extLst xmlns:a="http://schemas.openxmlformats.org/drawingml/2006/main">
              <a:ext uri="{FF2B5EF4-FFF2-40B4-BE49-F238E27FC236}">
                <a16:creationId xmlns:a16="http://schemas.microsoft.com/office/drawing/2014/main" id="{8A4C3045-49E0-4905-9CDF-2A89C2A2C87D}"/>
              </a:ext>
            </a:extLst>
          </p:cNvPr>
          <p:cNvSpPr>
            <a:spLocks xmlns:a="http://schemas.openxmlformats.org/drawingml/2006/main" noGrp="1"/>
          </p:cNvSpPr>
          <p:nvPr/>
        </p:nvSpPr>
        <p:spPr>
          <a:xfrm xmlns:a="http://schemas.openxmlformats.org/drawingml/2006/main">
            <a:off x="857250" y="2095500"/>
            <a:ext cx="10191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2231D"/>
                </a:solidFill>
                <a:latin typeface="Arial"/>
                <a:ea typeface="Arial"/>
                <a:cs typeface="Arial"/>
              </a:defRPr>
            </a:pPr>
            <a:r>
              <a:rPr sz="2025" b="0">
                <a:solidFill>
                  <a:srgbClr val="22231D"/>
                </a:solidFill>
                <a:latin typeface="Arial"/>
                <a:ea typeface="Arial"/>
                <a:cs typeface="Arial"/>
              </a:rPr>
              <a:t>VTI  →  U.S. stocks across the market</a:t>
            </a:r>
          </a:p>
        </p:txBody>
      </p:sp>
      <p:sp>
        <p:nvSpPr>
          <p:cNvPr id="5" name="">
            <a:extLst xmlns:a="http://schemas.openxmlformats.org/drawingml/2006/main">
              <a:ext uri="{FF2B5EF4-FFF2-40B4-BE49-F238E27FC236}">
                <a16:creationId xmlns:a16="http://schemas.microsoft.com/office/drawing/2014/main" id="{BAE33145-F641-466D-9AFE-053A85A1521A}"/>
              </a:ext>
            </a:extLst>
          </p:cNvPr>
          <p:cNvSpPr>
            <a:spLocks xmlns:a="http://schemas.openxmlformats.org/drawingml/2006/main" noGrp="1"/>
          </p:cNvSpPr>
          <p:nvPr/>
        </p:nvSpPr>
        <p:spPr>
          <a:xfrm xmlns:a="http://schemas.openxmlformats.org/drawingml/2006/main">
            <a:off x="857250" y="2847975"/>
            <a:ext cx="10191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2231D"/>
                </a:solidFill>
                <a:latin typeface="Arial"/>
                <a:ea typeface="Arial"/>
                <a:cs typeface="Arial"/>
              </a:defRPr>
            </a:pPr>
            <a:r>
              <a:rPr sz="2025" b="0">
                <a:solidFill>
                  <a:srgbClr val="22231D"/>
                </a:solidFill>
                <a:latin typeface="Arial"/>
                <a:ea typeface="Arial"/>
                <a:cs typeface="Arial"/>
              </a:rPr>
              <a:t>VXUS  →  Stocks outside the U.S.</a:t>
            </a:r>
          </a:p>
        </p:txBody>
      </p:sp>
      <p:sp>
        <p:nvSpPr>
          <p:cNvPr id="6" name="">
            <a:extLst xmlns:a="http://schemas.openxmlformats.org/drawingml/2006/main">
              <a:ext uri="{FF2B5EF4-FFF2-40B4-BE49-F238E27FC236}">
                <a16:creationId xmlns:a16="http://schemas.microsoft.com/office/drawing/2014/main" id="{7917A0E9-4A6E-4789-9E9D-1F59D09903DE}"/>
              </a:ext>
            </a:extLst>
          </p:cNvPr>
          <p:cNvSpPr>
            <a:spLocks xmlns:a="http://schemas.openxmlformats.org/drawingml/2006/main" noGrp="1"/>
          </p:cNvSpPr>
          <p:nvPr/>
        </p:nvSpPr>
        <p:spPr>
          <a:xfrm xmlns:a="http://schemas.openxmlformats.org/drawingml/2006/main">
            <a:off x="857250" y="3600450"/>
            <a:ext cx="10191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2231D"/>
                </a:solidFill>
                <a:latin typeface="Arial"/>
                <a:ea typeface="Arial"/>
                <a:cs typeface="Arial"/>
              </a:defRPr>
            </a:pPr>
            <a:r>
              <a:rPr sz="2025" b="0">
                <a:solidFill>
                  <a:srgbClr val="22231D"/>
                </a:solidFill>
                <a:latin typeface="Arial"/>
                <a:ea typeface="Arial"/>
                <a:cs typeface="Arial"/>
              </a:rPr>
              <a:t>BND  →  A broad mix of U.S. bonds</a:t>
            </a:r>
          </a:p>
        </p:txBody>
      </p:sp>
      <p:sp>
        <p:nvSpPr>
          <p:cNvPr id="7" name="">
            <a:extLst xmlns:a="http://schemas.openxmlformats.org/drawingml/2006/main">
              <a:ext uri="{FF2B5EF4-FFF2-40B4-BE49-F238E27FC236}">
                <a16:creationId xmlns:a16="http://schemas.microsoft.com/office/drawing/2014/main" id="{A0BBF089-3372-4B3F-813F-23864DFB9463}"/>
              </a:ext>
            </a:extLst>
          </p:cNvPr>
          <p:cNvSpPr>
            <a:spLocks xmlns:a="http://schemas.openxmlformats.org/drawingml/2006/main" noGrp="1"/>
          </p:cNvSpPr>
          <p:nvPr/>
        </p:nvSpPr>
        <p:spPr>
          <a:xfrm xmlns:a="http://schemas.openxmlformats.org/drawingml/2006/main">
            <a:off x="857250" y="4352925"/>
            <a:ext cx="10191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2231D"/>
                </a:solidFill>
                <a:latin typeface="Arial"/>
                <a:ea typeface="Arial"/>
                <a:cs typeface="Arial"/>
              </a:defRPr>
            </a:pPr>
            <a:r>
              <a:rPr sz="2025" b="0">
                <a:solidFill>
                  <a:srgbClr val="22231D"/>
                </a:solidFill>
                <a:latin typeface="Arial"/>
                <a:ea typeface="Arial"/>
                <a:cs typeface="Arial"/>
              </a:rPr>
              <a:t>XLK  →  Technology stocks only</a:t>
            </a:r>
          </a:p>
        </p:txBody>
      </p:sp>
      <p:sp>
        <p:nvSpPr>
          <p:cNvPr id="8" name="">
            <a:extLst xmlns:a="http://schemas.openxmlformats.org/drawingml/2006/main">
              <a:ext uri="{FF2B5EF4-FFF2-40B4-BE49-F238E27FC236}">
                <a16:creationId xmlns:a16="http://schemas.microsoft.com/office/drawing/2014/main" id="{2CC8251A-EDD5-4B6F-A3FB-837F566088A9}"/>
              </a:ext>
            </a:extLst>
          </p:cNvPr>
          <p:cNvSpPr>
            <a:spLocks xmlns:a="http://schemas.openxmlformats.org/drawingml/2006/main" noGrp="1"/>
          </p:cNvSpPr>
          <p:nvPr/>
        </p:nvSpPr>
        <p:spPr>
          <a:xfrm xmlns:a="http://schemas.openxmlformats.org/drawingml/2006/main">
            <a:off x="857250" y="5105400"/>
            <a:ext cx="10191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2231D"/>
                </a:solidFill>
                <a:latin typeface="Arial"/>
                <a:ea typeface="Arial"/>
                <a:cs typeface="Arial"/>
              </a:defRPr>
            </a:pPr>
            <a:r>
              <a:rPr sz="2025" b="0">
                <a:solidFill>
                  <a:srgbClr val="22231D"/>
                </a:solidFill>
                <a:latin typeface="Arial"/>
                <a:ea typeface="Arial"/>
                <a:cs typeface="Arial"/>
              </a:rPr>
              <a:t>QQQ  →  Large Nasdaq companies; technology tilted</a:t>
            </a:r>
          </a:p>
        </p:txBody>
      </p:sp>
    </p:spTree>
    <p:extLst>
      <p:ext uri="{BB962C8B-B14F-4D97-AF65-F5344CB8AC3E}">
        <p14:creationId xmlns:p14="http://schemas.microsoft.com/office/powerpoint/2010/main" val="1538572675"/>
      </p:ext>
    </p:extLst>
  </p:cSld>
</p:sld>
</file>

<file path=ppt/slides/slide5.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4C9D85F-DC60-4896-8550-141BE46FACC9}"/>
              </a:ext>
            </a:extLst>
          </p:cNvPr>
          <p:cNvSpPr>
            <a:spLocks xmlns:a="http://schemas.openxmlformats.org/drawingml/2006/main" noGrp="1"/>
          </p:cNvSpPr>
          <p:nvPr/>
        </p:nvSpPr>
        <p:spPr>
          <a:xfrm xmlns:a="http://schemas.openxmlformats.org/drawingml/2006/main">
            <a:off x="609600" y="32385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555B34"/>
                </a:solidFill>
                <a:latin typeface="Arial"/>
                <a:ea typeface="Arial"/>
                <a:cs typeface="Arial"/>
              </a:defRPr>
            </a:pPr>
            <a:r>
              <a:rPr sz="1275" b="1">
                <a:solidFill>
                  <a:srgbClr val="555B34"/>
                </a:solidFill>
                <a:latin typeface="Arial"/>
                <a:ea typeface="Arial"/>
                <a:cs typeface="Arial"/>
              </a:rPr>
              <a:t>SIMLIFE  /  INVESTING  /  MODULE 3</a:t>
            </a:r>
          </a:p>
        </p:txBody>
      </p:sp>
      <p:sp>
        <p:nvSpPr>
          <p:cNvPr id="2" name="">
            <a:extLst xmlns:a="http://schemas.openxmlformats.org/drawingml/2006/main">
              <a:ext uri="{FF2B5EF4-FFF2-40B4-BE49-F238E27FC236}">
                <a16:creationId xmlns:a16="http://schemas.microsoft.com/office/drawing/2014/main" id="{F7761DFB-3D69-4E2E-AF51-C16A8DC13119}"/>
              </a:ext>
            </a:extLst>
          </p:cNvPr>
          <p:cNvSpPr>
            <a:spLocks xmlns:a="http://schemas.openxmlformats.org/drawingml/2006/main" noGrp="1"/>
          </p:cNvSpPr>
          <p:nvPr/>
        </p:nvSpPr>
        <p:spPr>
          <a:xfrm xmlns:a="http://schemas.openxmlformats.org/drawingml/2006/main">
            <a:off x="609600" y="866775"/>
            <a:ext cx="108585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22231D"/>
                </a:solidFill>
                <a:latin typeface="Georgia"/>
                <a:ea typeface="Georgia"/>
                <a:cs typeface="Georgia"/>
              </a:defRPr>
            </a:pPr>
            <a:r>
              <a:rPr sz="3375" b="1">
                <a:solidFill>
                  <a:srgbClr val="22231D"/>
                </a:solidFill>
                <a:latin typeface="Georgia"/>
                <a:ea typeface="Georgia"/>
                <a:cs typeface="Georgia"/>
              </a:rPr>
              <a:t>How ETFs appear in SimLife</a:t>
            </a:r>
          </a:p>
        </p:txBody>
      </p:sp>
      <p:sp>
        <p:nvSpPr>
          <p:cNvPr id="3" name="">
            <a:extLst xmlns:a="http://schemas.openxmlformats.org/drawingml/2006/main">
              <a:ext uri="{FF2B5EF4-FFF2-40B4-BE49-F238E27FC236}">
                <a16:creationId xmlns:a16="http://schemas.microsoft.com/office/drawing/2014/main" id="{51DB7248-F5F4-4803-901F-FB241BDB242E}"/>
              </a:ext>
            </a:extLst>
          </p:cNvPr>
          <p:cNvSpPr>
            <a:spLocks xmlns:a="http://schemas.openxmlformats.org/drawingml/2006/main" noGrp="1"/>
          </p:cNvSpPr>
          <p:nvPr/>
        </p:nvSpPr>
        <p:spPr>
          <a:xfrm xmlns:a="http://schemas.openxmlformats.org/drawingml/2006/main">
            <a:off x="11049000" y="61912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686B5E"/>
                </a:solidFill>
                <a:latin typeface="Arial"/>
                <a:ea typeface="Arial"/>
                <a:cs typeface="Arial"/>
              </a:defRPr>
            </a:pPr>
            <a:r>
              <a:rPr sz="1200" b="1">
                <a:solidFill>
                  <a:srgbClr val="686B5E"/>
                </a:solidFill>
                <a:latin typeface="Arial"/>
                <a:ea typeface="Arial"/>
                <a:cs typeface="Arial"/>
              </a:rPr>
              <a:t>05</a:t>
            </a:r>
          </a:p>
        </p:txBody>
      </p:sp>
      <p:sp>
        <p:nvSpPr>
          <p:cNvPr id="4" name="">
            <a:extLst xmlns:a="http://schemas.openxmlformats.org/drawingml/2006/main">
              <a:ext uri="{FF2B5EF4-FFF2-40B4-BE49-F238E27FC236}">
                <a16:creationId xmlns:a16="http://schemas.microsoft.com/office/drawing/2014/main" id="{0E24EF34-1F25-40AB-A763-FE3B64DB9409}"/>
              </a:ext>
            </a:extLst>
          </p:cNvPr>
          <p:cNvSpPr>
            <a:spLocks xmlns:a="http://schemas.openxmlformats.org/drawingml/2006/main" noGrp="1"/>
          </p:cNvSpPr>
          <p:nvPr/>
        </p:nvSpPr>
        <p:spPr>
          <a:xfrm xmlns:a="http://schemas.openxmlformats.org/drawingml/2006/main">
            <a:off x="819150" y="2286000"/>
            <a:ext cx="10382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2231D"/>
                </a:solidFill>
                <a:latin typeface="Arial"/>
                <a:ea typeface="Arial"/>
                <a:cs typeface="Arial"/>
              </a:defRPr>
            </a:pPr>
            <a:r>
              <a:rPr sz="2025" b="0">
                <a:solidFill>
                  <a:srgbClr val="22231D"/>
                </a:solidFill>
                <a:latin typeface="Arial"/>
                <a:ea typeface="Arial"/>
                <a:cs typeface="Arial"/>
              </a:rPr>
              <a:t>Investing  →  Search a ticker, such as VTI</a:t>
            </a:r>
          </a:p>
        </p:txBody>
      </p:sp>
      <p:sp>
        <p:nvSpPr>
          <p:cNvPr id="5" name="">
            <a:extLst xmlns:a="http://schemas.openxmlformats.org/drawingml/2006/main">
              <a:ext uri="{FF2B5EF4-FFF2-40B4-BE49-F238E27FC236}">
                <a16:creationId xmlns:a16="http://schemas.microsoft.com/office/drawing/2014/main" id="{A030C4A0-0D39-44D4-9150-BC8EDAB0F0F0}"/>
              </a:ext>
            </a:extLst>
          </p:cNvPr>
          <p:cNvSpPr>
            <a:spLocks xmlns:a="http://schemas.openxmlformats.org/drawingml/2006/main" noGrp="1"/>
          </p:cNvSpPr>
          <p:nvPr/>
        </p:nvSpPr>
        <p:spPr>
          <a:xfrm xmlns:a="http://schemas.openxmlformats.org/drawingml/2006/main">
            <a:off x="819150" y="3162300"/>
            <a:ext cx="10382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2231D"/>
                </a:solidFill>
                <a:latin typeface="Arial"/>
                <a:ea typeface="Arial"/>
                <a:cs typeface="Arial"/>
              </a:defRPr>
            </a:pPr>
            <a:r>
              <a:rPr sz="2025" b="0">
                <a:solidFill>
                  <a:srgbClr val="22231D"/>
                </a:solidFill>
                <a:latin typeface="Arial"/>
                <a:ea typeface="Arial"/>
                <a:cs typeface="Arial"/>
              </a:rPr>
              <a:t>Read the fund name and current quote</a:t>
            </a:r>
          </a:p>
        </p:txBody>
      </p:sp>
      <p:sp>
        <p:nvSpPr>
          <p:cNvPr id="6" name="">
            <a:extLst xmlns:a="http://schemas.openxmlformats.org/drawingml/2006/main">
              <a:ext uri="{FF2B5EF4-FFF2-40B4-BE49-F238E27FC236}">
                <a16:creationId xmlns:a16="http://schemas.microsoft.com/office/drawing/2014/main" id="{DA3C99A8-16AB-48CC-AC74-F87D9834ED5D}"/>
              </a:ext>
            </a:extLst>
          </p:cNvPr>
          <p:cNvSpPr>
            <a:spLocks xmlns:a="http://schemas.openxmlformats.org/drawingml/2006/main" noGrp="1"/>
          </p:cNvSpPr>
          <p:nvPr/>
        </p:nvSpPr>
        <p:spPr>
          <a:xfrm xmlns:a="http://schemas.openxmlformats.org/drawingml/2006/main">
            <a:off x="819150" y="4038600"/>
            <a:ext cx="10382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2231D"/>
                </a:solidFill>
                <a:latin typeface="Arial"/>
                <a:ea typeface="Arial"/>
                <a:cs typeface="Arial"/>
              </a:defRPr>
            </a:pPr>
            <a:r>
              <a:rPr sz="2025" b="0">
                <a:solidFill>
                  <a:srgbClr val="22231D"/>
                </a:solidFill>
                <a:latin typeface="Arial"/>
                <a:ea typeface="Arial"/>
                <a:cs typeface="Arial"/>
              </a:rPr>
              <a:t>Enter a dollar amount; SimLife calculates fractional shares</a:t>
            </a:r>
          </a:p>
        </p:txBody>
      </p:sp>
      <p:sp>
        <p:nvSpPr>
          <p:cNvPr id="7" name="">
            <a:extLst xmlns:a="http://schemas.openxmlformats.org/drawingml/2006/main">
              <a:ext uri="{FF2B5EF4-FFF2-40B4-BE49-F238E27FC236}">
                <a16:creationId xmlns:a16="http://schemas.microsoft.com/office/drawing/2014/main" id="{39EE7076-F0AD-462B-8780-F72D6C552459}"/>
              </a:ext>
            </a:extLst>
          </p:cNvPr>
          <p:cNvSpPr>
            <a:spLocks xmlns:a="http://schemas.openxmlformats.org/drawingml/2006/main" noGrp="1"/>
          </p:cNvSpPr>
          <p:nvPr/>
        </p:nvSpPr>
        <p:spPr>
          <a:xfrm xmlns:a="http://schemas.openxmlformats.org/drawingml/2006/main">
            <a:off x="819150" y="4914900"/>
            <a:ext cx="10382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2231D"/>
                </a:solidFill>
                <a:latin typeface="Arial"/>
                <a:ea typeface="Arial"/>
                <a:cs typeface="Arial"/>
              </a:defRPr>
            </a:pPr>
            <a:r>
              <a:rPr sz="2025" b="0">
                <a:solidFill>
                  <a:srgbClr val="22231D"/>
                </a:solidFill>
                <a:latin typeface="Arial"/>
                <a:ea typeface="Arial"/>
                <a:cs typeface="Arial"/>
              </a:rPr>
              <a:t>After buying, the ETF appears in your portfolio beside stocks</a:t>
            </a:r>
          </a:p>
        </p:txBody>
      </p:sp>
      <p:sp>
        <p:nvSpPr>
          <p:cNvPr id="8" name="">
            <a:extLst xmlns:a="http://schemas.openxmlformats.org/drawingml/2006/main">
              <a:ext uri="{FF2B5EF4-FFF2-40B4-BE49-F238E27FC236}">
                <a16:creationId xmlns:a16="http://schemas.microsoft.com/office/drawing/2014/main" id="{2311B750-B53E-46F3-8D74-3A5F80DC04E7}"/>
              </a:ext>
            </a:extLst>
          </p:cNvPr>
          <p:cNvSpPr>
            <a:spLocks xmlns:a="http://schemas.openxmlformats.org/drawingml/2006/main" noGrp="1"/>
          </p:cNvSpPr>
          <p:nvPr/>
        </p:nvSpPr>
        <p:spPr>
          <a:xfrm xmlns:a="http://schemas.openxmlformats.org/drawingml/2006/main">
            <a:off x="819150" y="5876925"/>
            <a:ext cx="9525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555B34"/>
                </a:solidFill>
                <a:latin typeface="Arial"/>
                <a:ea typeface="Arial"/>
                <a:cs typeface="Arial"/>
              </a:defRPr>
            </a:pPr>
            <a:r>
              <a:rPr sz="1650" b="1">
                <a:solidFill>
                  <a:srgbClr val="555B34"/>
                </a:solidFill>
                <a:latin typeface="Arial"/>
                <a:ea typeface="Arial"/>
                <a:cs typeface="Arial"/>
              </a:rPr>
              <a:t>Try VTI, VXUS, BND, or VOO in the search box.</a:t>
            </a:r>
          </a:p>
        </p:txBody>
      </p:sp>
    </p:spTree>
    <p:extLst>
      <p:ext uri="{BB962C8B-B14F-4D97-AF65-F5344CB8AC3E}">
        <p14:creationId xmlns:p14="http://schemas.microsoft.com/office/powerpoint/2010/main" val="2079609831"/>
      </p:ext>
    </p:extLst>
  </p:cSld>
</p:sld>
</file>

<file path=ppt/slides/slide6.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B3FD4DD-99A5-4A73-BE76-F25787162270}"/>
              </a:ext>
            </a:extLst>
          </p:cNvPr>
          <p:cNvSpPr>
            <a:spLocks xmlns:a="http://schemas.openxmlformats.org/drawingml/2006/main" noGrp="1"/>
          </p:cNvSpPr>
          <p:nvPr/>
        </p:nvSpPr>
        <p:spPr>
          <a:xfrm xmlns:a="http://schemas.openxmlformats.org/drawingml/2006/main">
            <a:off x="609600" y="32385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555B34"/>
                </a:solidFill>
                <a:latin typeface="Arial"/>
                <a:ea typeface="Arial"/>
                <a:cs typeface="Arial"/>
              </a:defRPr>
            </a:pPr>
            <a:r>
              <a:rPr sz="1275" b="1">
                <a:solidFill>
                  <a:srgbClr val="555B34"/>
                </a:solidFill>
                <a:latin typeface="Arial"/>
                <a:ea typeface="Arial"/>
                <a:cs typeface="Arial"/>
              </a:rPr>
              <a:t>SIMLIFE  /  INVESTING  /  MODULE 3</a:t>
            </a:r>
          </a:p>
        </p:txBody>
      </p:sp>
      <p:sp>
        <p:nvSpPr>
          <p:cNvPr id="2" name="">
            <a:extLst xmlns:a="http://schemas.openxmlformats.org/drawingml/2006/main">
              <a:ext uri="{FF2B5EF4-FFF2-40B4-BE49-F238E27FC236}">
                <a16:creationId xmlns:a16="http://schemas.microsoft.com/office/drawing/2014/main" id="{A2F1411C-7F3B-4D1B-9157-6FA558EE6EB8}"/>
              </a:ext>
            </a:extLst>
          </p:cNvPr>
          <p:cNvSpPr>
            <a:spLocks xmlns:a="http://schemas.openxmlformats.org/drawingml/2006/main" noGrp="1"/>
          </p:cNvSpPr>
          <p:nvPr/>
        </p:nvSpPr>
        <p:spPr>
          <a:xfrm xmlns:a="http://schemas.openxmlformats.org/drawingml/2006/main">
            <a:off x="609600" y="866775"/>
            <a:ext cx="108585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22231D"/>
                </a:solidFill>
                <a:latin typeface="Georgia"/>
                <a:ea typeface="Georgia"/>
                <a:cs typeface="Georgia"/>
              </a:defRPr>
            </a:pPr>
            <a:r>
              <a:rPr sz="3375" b="1">
                <a:solidFill>
                  <a:srgbClr val="22231D"/>
                </a:solidFill>
                <a:latin typeface="Georgia"/>
                <a:ea typeface="Georgia"/>
                <a:cs typeface="Georgia"/>
              </a:rPr>
              <a:t>Read the fund before buying</a:t>
            </a:r>
          </a:p>
        </p:txBody>
      </p:sp>
      <p:sp>
        <p:nvSpPr>
          <p:cNvPr id="3" name="">
            <a:extLst xmlns:a="http://schemas.openxmlformats.org/drawingml/2006/main">
              <a:ext uri="{FF2B5EF4-FFF2-40B4-BE49-F238E27FC236}">
                <a16:creationId xmlns:a16="http://schemas.microsoft.com/office/drawing/2014/main" id="{C7E0B348-1673-48CE-BA9D-47AC216DC723}"/>
              </a:ext>
            </a:extLst>
          </p:cNvPr>
          <p:cNvSpPr>
            <a:spLocks xmlns:a="http://schemas.openxmlformats.org/drawingml/2006/main" noGrp="1"/>
          </p:cNvSpPr>
          <p:nvPr/>
        </p:nvSpPr>
        <p:spPr>
          <a:xfrm xmlns:a="http://schemas.openxmlformats.org/drawingml/2006/main">
            <a:off x="11049000" y="61912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686B5E"/>
                </a:solidFill>
                <a:latin typeface="Arial"/>
                <a:ea typeface="Arial"/>
                <a:cs typeface="Arial"/>
              </a:defRPr>
            </a:pPr>
            <a:r>
              <a:rPr sz="1200" b="1">
                <a:solidFill>
                  <a:srgbClr val="686B5E"/>
                </a:solidFill>
                <a:latin typeface="Arial"/>
                <a:ea typeface="Arial"/>
                <a:cs typeface="Arial"/>
              </a:rPr>
              <a:t>06</a:t>
            </a:r>
          </a:p>
        </p:txBody>
      </p:sp>
      <p:sp>
        <p:nvSpPr>
          <p:cNvPr id="4" name="">
            <a:extLst xmlns:a="http://schemas.openxmlformats.org/drawingml/2006/main">
              <a:ext uri="{FF2B5EF4-FFF2-40B4-BE49-F238E27FC236}">
                <a16:creationId xmlns:a16="http://schemas.microsoft.com/office/drawing/2014/main" id="{117DBE64-F529-4FEE-B592-8BB73195BB52}"/>
              </a:ext>
            </a:extLst>
          </p:cNvPr>
          <p:cNvSpPr>
            <a:spLocks xmlns:a="http://schemas.openxmlformats.org/drawingml/2006/main" noGrp="1"/>
          </p:cNvSpPr>
          <p:nvPr/>
        </p:nvSpPr>
        <p:spPr>
          <a:xfrm xmlns:a="http://schemas.openxmlformats.org/drawingml/2006/main">
            <a:off x="819150" y="2095500"/>
            <a:ext cx="1028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22231D"/>
                </a:solidFill>
                <a:latin typeface="Arial"/>
                <a:ea typeface="Arial"/>
                <a:cs typeface="Arial"/>
              </a:defRPr>
            </a:pPr>
            <a:r>
              <a:rPr sz="1950" b="0">
                <a:solidFill>
                  <a:srgbClr val="22231D"/>
                </a:solidFill>
                <a:latin typeface="Arial"/>
                <a:ea typeface="Arial"/>
                <a:cs typeface="Arial"/>
              </a:rPr>
              <a:t>What does it own?  Stocks, bonds, a sector, or one asset?</a:t>
            </a:r>
          </a:p>
        </p:txBody>
      </p:sp>
      <p:sp>
        <p:nvSpPr>
          <p:cNvPr id="5" name="">
            <a:extLst xmlns:a="http://schemas.openxmlformats.org/drawingml/2006/main">
              <a:ext uri="{FF2B5EF4-FFF2-40B4-BE49-F238E27FC236}">
                <a16:creationId xmlns:a16="http://schemas.microsoft.com/office/drawing/2014/main" id="{3A87FDEF-D0CD-4A0D-AC8C-583D74F798A8}"/>
              </a:ext>
            </a:extLst>
          </p:cNvPr>
          <p:cNvSpPr>
            <a:spLocks xmlns:a="http://schemas.openxmlformats.org/drawingml/2006/main" noGrp="1"/>
          </p:cNvSpPr>
          <p:nvPr/>
        </p:nvSpPr>
        <p:spPr>
          <a:xfrm xmlns:a="http://schemas.openxmlformats.org/drawingml/2006/main">
            <a:off x="819150" y="2857500"/>
            <a:ext cx="1028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22231D"/>
                </a:solidFill>
                <a:latin typeface="Arial"/>
                <a:ea typeface="Arial"/>
                <a:cs typeface="Arial"/>
              </a:defRPr>
            </a:pPr>
            <a:r>
              <a:rPr sz="1950" b="0">
                <a:solidFill>
                  <a:srgbClr val="22231D"/>
                </a:solidFill>
                <a:latin typeface="Arial"/>
                <a:ea typeface="Arial"/>
                <a:cs typeface="Arial"/>
              </a:rPr>
              <a:t>Where is it invested?  U.S., outside the U.S., or both?</a:t>
            </a:r>
          </a:p>
        </p:txBody>
      </p:sp>
      <p:sp>
        <p:nvSpPr>
          <p:cNvPr id="6" name="">
            <a:extLst xmlns:a="http://schemas.openxmlformats.org/drawingml/2006/main">
              <a:ext uri="{FF2B5EF4-FFF2-40B4-BE49-F238E27FC236}">
                <a16:creationId xmlns:a16="http://schemas.microsoft.com/office/drawing/2014/main" id="{800E3F21-F2A4-4B3D-8B2F-A9E8E746D8E2}"/>
              </a:ext>
            </a:extLst>
          </p:cNvPr>
          <p:cNvSpPr>
            <a:spLocks xmlns:a="http://schemas.openxmlformats.org/drawingml/2006/main" noGrp="1"/>
          </p:cNvSpPr>
          <p:nvPr/>
        </p:nvSpPr>
        <p:spPr>
          <a:xfrm xmlns:a="http://schemas.openxmlformats.org/drawingml/2006/main">
            <a:off x="819150" y="3619500"/>
            <a:ext cx="1028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22231D"/>
                </a:solidFill>
                <a:latin typeface="Arial"/>
                <a:ea typeface="Arial"/>
                <a:cs typeface="Arial"/>
              </a:defRPr>
            </a:pPr>
            <a:r>
              <a:rPr sz="1950" b="0">
                <a:solidFill>
                  <a:srgbClr val="22231D"/>
                </a:solidFill>
                <a:latin typeface="Arial"/>
                <a:ea typeface="Arial"/>
                <a:cs typeface="Arial"/>
              </a:rPr>
              <a:t>What overlaps with your current holdings?</a:t>
            </a:r>
          </a:p>
        </p:txBody>
      </p:sp>
      <p:sp>
        <p:nvSpPr>
          <p:cNvPr id="7" name="">
            <a:extLst xmlns:a="http://schemas.openxmlformats.org/drawingml/2006/main">
              <a:ext uri="{FF2B5EF4-FFF2-40B4-BE49-F238E27FC236}">
                <a16:creationId xmlns:a16="http://schemas.microsoft.com/office/drawing/2014/main" id="{0BFF791A-8671-403C-8EF7-B825A892A3D7}"/>
              </a:ext>
            </a:extLst>
          </p:cNvPr>
          <p:cNvSpPr>
            <a:spLocks xmlns:a="http://schemas.openxmlformats.org/drawingml/2006/main" noGrp="1"/>
          </p:cNvSpPr>
          <p:nvPr/>
        </p:nvSpPr>
        <p:spPr>
          <a:xfrm xmlns:a="http://schemas.openxmlformats.org/drawingml/2006/main">
            <a:off x="819150" y="4381500"/>
            <a:ext cx="1028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22231D"/>
                </a:solidFill>
                <a:latin typeface="Arial"/>
                <a:ea typeface="Arial"/>
                <a:cs typeface="Arial"/>
              </a:defRPr>
            </a:pPr>
            <a:r>
              <a:rPr sz="1950" b="0">
                <a:solidFill>
                  <a:srgbClr val="22231D"/>
                </a:solidFill>
                <a:latin typeface="Arial"/>
                <a:ea typeface="Arial"/>
                <a:cs typeface="Arial"/>
              </a:rPr>
              <a:t>What is the expense ratio?  Check the issuer’s fund page.</a:t>
            </a:r>
          </a:p>
        </p:txBody>
      </p:sp>
      <p:sp>
        <p:nvSpPr>
          <p:cNvPr id="8" name="">
            <a:extLst xmlns:a="http://schemas.openxmlformats.org/drawingml/2006/main">
              <a:ext uri="{FF2B5EF4-FFF2-40B4-BE49-F238E27FC236}">
                <a16:creationId xmlns:a16="http://schemas.microsoft.com/office/drawing/2014/main" id="{E5AAF4E8-3D46-48A3-89F3-560B8428DAD3}"/>
              </a:ext>
            </a:extLst>
          </p:cNvPr>
          <p:cNvSpPr>
            <a:spLocks xmlns:a="http://schemas.openxmlformats.org/drawingml/2006/main" noGrp="1"/>
          </p:cNvSpPr>
          <p:nvPr/>
        </p:nvSpPr>
        <p:spPr>
          <a:xfrm xmlns:a="http://schemas.openxmlformats.org/drawingml/2006/main">
            <a:off x="819150" y="5143500"/>
            <a:ext cx="1028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22231D"/>
                </a:solidFill>
                <a:latin typeface="Arial"/>
                <a:ea typeface="Arial"/>
                <a:cs typeface="Arial"/>
              </a:defRPr>
            </a:pPr>
            <a:r>
              <a:rPr sz="1950" b="0">
                <a:solidFill>
                  <a:srgbClr val="22231D"/>
                </a:solidFill>
                <a:latin typeface="Arial"/>
                <a:ea typeface="Arial"/>
                <a:cs typeface="Arial"/>
              </a:rPr>
              <a:t>What could make it lose value?</a:t>
            </a:r>
          </a:p>
        </p:txBody>
      </p:sp>
    </p:spTree>
    <p:extLst>
      <p:ext uri="{BB962C8B-B14F-4D97-AF65-F5344CB8AC3E}">
        <p14:creationId xmlns:p14="http://schemas.microsoft.com/office/powerpoint/2010/main" val="992520246"/>
      </p:ext>
    </p:extLst>
  </p:cSld>
</p:sld>
</file>

<file path=ppt/slides/slide7.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5F11E95-83F4-4DDB-8508-A4BAC7F77F2E}"/>
              </a:ext>
            </a:extLst>
          </p:cNvPr>
          <p:cNvSpPr>
            <a:spLocks xmlns:a="http://schemas.openxmlformats.org/drawingml/2006/main" noGrp="1"/>
          </p:cNvSpPr>
          <p:nvPr/>
        </p:nvSpPr>
        <p:spPr>
          <a:xfrm xmlns:a="http://schemas.openxmlformats.org/drawingml/2006/main">
            <a:off x="609600" y="32385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555B34"/>
                </a:solidFill>
                <a:latin typeface="Arial"/>
                <a:ea typeface="Arial"/>
                <a:cs typeface="Arial"/>
              </a:defRPr>
            </a:pPr>
            <a:r>
              <a:rPr sz="1275" b="1">
                <a:solidFill>
                  <a:srgbClr val="555B34"/>
                </a:solidFill>
                <a:latin typeface="Arial"/>
                <a:ea typeface="Arial"/>
                <a:cs typeface="Arial"/>
              </a:rPr>
              <a:t>SIMLIFE  /  INVESTING  /  MODULE 3</a:t>
            </a:r>
          </a:p>
        </p:txBody>
      </p:sp>
      <p:sp>
        <p:nvSpPr>
          <p:cNvPr id="2" name="">
            <a:extLst xmlns:a="http://schemas.openxmlformats.org/drawingml/2006/main">
              <a:ext uri="{FF2B5EF4-FFF2-40B4-BE49-F238E27FC236}">
                <a16:creationId xmlns:a16="http://schemas.microsoft.com/office/drawing/2014/main" id="{7CD2DFAE-D1B4-4B40-9F6B-48A016048A37}"/>
              </a:ext>
            </a:extLst>
          </p:cNvPr>
          <p:cNvSpPr>
            <a:spLocks xmlns:a="http://schemas.openxmlformats.org/drawingml/2006/main" noGrp="1"/>
          </p:cNvSpPr>
          <p:nvPr/>
        </p:nvSpPr>
        <p:spPr>
          <a:xfrm xmlns:a="http://schemas.openxmlformats.org/drawingml/2006/main">
            <a:off x="609600" y="866775"/>
            <a:ext cx="108585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22231D"/>
                </a:solidFill>
                <a:latin typeface="Georgia"/>
                <a:ea typeface="Georgia"/>
                <a:cs typeface="Georgia"/>
              </a:defRPr>
            </a:pPr>
            <a:r>
              <a:rPr sz="3375" b="1">
                <a:solidFill>
                  <a:srgbClr val="22231D"/>
                </a:solidFill>
                <a:latin typeface="Georgia"/>
                <a:ea typeface="Georgia"/>
                <a:cs typeface="Georgia"/>
              </a:rPr>
              <a:t>Your portfolio gap</a:t>
            </a:r>
          </a:p>
        </p:txBody>
      </p:sp>
      <p:sp>
        <p:nvSpPr>
          <p:cNvPr id="3" name="">
            <a:extLst xmlns:a="http://schemas.openxmlformats.org/drawingml/2006/main">
              <a:ext uri="{FF2B5EF4-FFF2-40B4-BE49-F238E27FC236}">
                <a16:creationId xmlns:a16="http://schemas.microsoft.com/office/drawing/2014/main" id="{654821FD-A095-4184-8E24-E9264FABC162}"/>
              </a:ext>
            </a:extLst>
          </p:cNvPr>
          <p:cNvSpPr>
            <a:spLocks xmlns:a="http://schemas.openxmlformats.org/drawingml/2006/main" noGrp="1"/>
          </p:cNvSpPr>
          <p:nvPr/>
        </p:nvSpPr>
        <p:spPr>
          <a:xfrm xmlns:a="http://schemas.openxmlformats.org/drawingml/2006/main">
            <a:off x="11049000" y="61912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686B5E"/>
                </a:solidFill>
                <a:latin typeface="Arial"/>
                <a:ea typeface="Arial"/>
                <a:cs typeface="Arial"/>
              </a:defRPr>
            </a:pPr>
            <a:r>
              <a:rPr sz="1200" b="1">
                <a:solidFill>
                  <a:srgbClr val="686B5E"/>
                </a:solidFill>
                <a:latin typeface="Arial"/>
                <a:ea typeface="Arial"/>
                <a:cs typeface="Arial"/>
              </a:rPr>
              <a:t>07</a:t>
            </a:r>
          </a:p>
        </p:txBody>
      </p:sp>
      <p:sp>
        <p:nvSpPr>
          <p:cNvPr id="4" name="">
            <a:extLst xmlns:a="http://schemas.openxmlformats.org/drawingml/2006/main">
              <a:ext uri="{FF2B5EF4-FFF2-40B4-BE49-F238E27FC236}">
                <a16:creationId xmlns:a16="http://schemas.microsoft.com/office/drawing/2014/main" id="{1C677288-092C-4AC7-B26D-2DA3274FD6FD}"/>
              </a:ext>
            </a:extLst>
          </p:cNvPr>
          <p:cNvSpPr>
            <a:spLocks xmlns:a="http://schemas.openxmlformats.org/drawingml/2006/main" noGrp="1"/>
          </p:cNvSpPr>
          <p:nvPr/>
        </p:nvSpPr>
        <p:spPr>
          <a:xfrm xmlns:a="http://schemas.openxmlformats.org/drawingml/2006/main">
            <a:off x="781050" y="209550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555B34"/>
                </a:solidFill>
                <a:latin typeface="Arial"/>
                <a:ea typeface="Arial"/>
                <a:cs typeface="Arial"/>
              </a:defRPr>
            </a:pPr>
            <a:r>
              <a:rPr sz="2625" b="1">
                <a:solidFill>
                  <a:srgbClr val="555B34"/>
                </a:solidFill>
                <a:latin typeface="Arial"/>
                <a:ea typeface="Arial"/>
                <a:cs typeface="Arial"/>
              </a:rPr>
              <a:t>Look at what you already own</a:t>
            </a:r>
          </a:p>
        </p:txBody>
      </p:sp>
      <p:sp>
        <p:nvSpPr>
          <p:cNvPr id="5" name="">
            <a:extLst xmlns:a="http://schemas.openxmlformats.org/drawingml/2006/main">
              <a:ext uri="{FF2B5EF4-FFF2-40B4-BE49-F238E27FC236}">
                <a16:creationId xmlns:a16="http://schemas.microsoft.com/office/drawing/2014/main" id="{ACD81BE9-279A-4ADA-96A2-0649610CF945}"/>
              </a:ext>
            </a:extLst>
          </p:cNvPr>
          <p:cNvSpPr>
            <a:spLocks xmlns:a="http://schemas.openxmlformats.org/drawingml/2006/main" noGrp="1"/>
          </p:cNvSpPr>
          <p:nvPr/>
        </p:nvSpPr>
        <p:spPr>
          <a:xfrm xmlns:a="http://schemas.openxmlformats.org/drawingml/2006/main">
            <a:off x="819150" y="3124200"/>
            <a:ext cx="1028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2231D"/>
                </a:solidFill>
                <a:latin typeface="Arial"/>
                <a:ea typeface="Arial"/>
                <a:cs typeface="Arial"/>
              </a:defRPr>
            </a:pPr>
            <a:r>
              <a:rPr sz="2025" b="0">
                <a:solidFill>
                  <a:srgbClr val="22231D"/>
                </a:solidFill>
                <a:latin typeface="Arial"/>
                <a:ea typeface="Arial"/>
                <a:cs typeface="Arial"/>
              </a:rPr>
              <a:t>Many U.S. tech stocks?  Another U.S. tech fund may repeat that bet.</a:t>
            </a:r>
          </a:p>
        </p:txBody>
      </p:sp>
      <p:sp>
        <p:nvSpPr>
          <p:cNvPr id="6" name="">
            <a:extLst xmlns:a="http://schemas.openxmlformats.org/drawingml/2006/main">
              <a:ext uri="{FF2B5EF4-FFF2-40B4-BE49-F238E27FC236}">
                <a16:creationId xmlns:a16="http://schemas.microsoft.com/office/drawing/2014/main" id="{EF99E058-3E5C-4BFE-9F45-F4A5E4F8672D}"/>
              </a:ext>
            </a:extLst>
          </p:cNvPr>
          <p:cNvSpPr>
            <a:spLocks xmlns:a="http://schemas.openxmlformats.org/drawingml/2006/main" noGrp="1"/>
          </p:cNvSpPr>
          <p:nvPr/>
        </p:nvSpPr>
        <p:spPr>
          <a:xfrm xmlns:a="http://schemas.openxmlformats.org/drawingml/2006/main">
            <a:off x="819150" y="3981450"/>
            <a:ext cx="1028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2231D"/>
                </a:solidFill>
                <a:latin typeface="Arial"/>
                <a:ea typeface="Arial"/>
                <a:cs typeface="Arial"/>
              </a:defRPr>
            </a:pPr>
            <a:r>
              <a:rPr sz="2025" b="0">
                <a:solidFill>
                  <a:srgbClr val="22231D"/>
                </a:solidFill>
                <a:latin typeface="Arial"/>
                <a:ea typeface="Arial"/>
                <a:cs typeface="Arial"/>
              </a:rPr>
              <a:t>Only U.S. stocks?  A broad international fund may add geography.</a:t>
            </a:r>
          </a:p>
        </p:txBody>
      </p:sp>
      <p:sp>
        <p:nvSpPr>
          <p:cNvPr id="7" name="">
            <a:extLst xmlns:a="http://schemas.openxmlformats.org/drawingml/2006/main">
              <a:ext uri="{FF2B5EF4-FFF2-40B4-BE49-F238E27FC236}">
                <a16:creationId xmlns:a16="http://schemas.microsoft.com/office/drawing/2014/main" id="{10D70C31-B5BB-4FF3-9832-D3AE6759E277}"/>
              </a:ext>
            </a:extLst>
          </p:cNvPr>
          <p:cNvSpPr>
            <a:spLocks xmlns:a="http://schemas.openxmlformats.org/drawingml/2006/main" noGrp="1"/>
          </p:cNvSpPr>
          <p:nvPr/>
        </p:nvSpPr>
        <p:spPr>
          <a:xfrm xmlns:a="http://schemas.openxmlformats.org/drawingml/2006/main">
            <a:off x="819150" y="4838700"/>
            <a:ext cx="1028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2231D"/>
                </a:solidFill>
                <a:latin typeface="Arial"/>
                <a:ea typeface="Arial"/>
                <a:cs typeface="Arial"/>
              </a:defRPr>
            </a:pPr>
            <a:r>
              <a:rPr sz="2025" b="0">
                <a:solidFill>
                  <a:srgbClr val="22231D"/>
                </a:solidFill>
                <a:latin typeface="Arial"/>
                <a:ea typeface="Arial"/>
                <a:cs typeface="Arial"/>
              </a:rPr>
              <a:t>Only company stocks?  A broad bond fund changes asset type.</a:t>
            </a:r>
          </a:p>
        </p:txBody>
      </p:sp>
    </p:spTree>
    <p:extLst>
      <p:ext uri="{BB962C8B-B14F-4D97-AF65-F5344CB8AC3E}">
        <p14:creationId xmlns:p14="http://schemas.microsoft.com/office/powerpoint/2010/main" val="878617064"/>
      </p:ext>
    </p:extLst>
  </p:cSld>
</p:sld>
</file>

<file path=ppt/slides/slide8.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B31EEB6-7184-4584-8EEF-1C4BC991C244}"/>
              </a:ext>
            </a:extLst>
          </p:cNvPr>
          <p:cNvSpPr>
            <a:spLocks xmlns:a="http://schemas.openxmlformats.org/drawingml/2006/main" noGrp="1"/>
          </p:cNvSpPr>
          <p:nvPr/>
        </p:nvSpPr>
        <p:spPr>
          <a:xfrm xmlns:a="http://schemas.openxmlformats.org/drawingml/2006/main">
            <a:off x="609600" y="32385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555B34"/>
                </a:solidFill>
                <a:latin typeface="Arial"/>
                <a:ea typeface="Arial"/>
                <a:cs typeface="Arial"/>
              </a:defRPr>
            </a:pPr>
            <a:r>
              <a:rPr sz="1275" b="1">
                <a:solidFill>
                  <a:srgbClr val="555B34"/>
                </a:solidFill>
                <a:latin typeface="Arial"/>
                <a:ea typeface="Arial"/>
                <a:cs typeface="Arial"/>
              </a:rPr>
              <a:t>SIMLIFE  /  INVESTING  /  MODULE 3</a:t>
            </a:r>
          </a:p>
        </p:txBody>
      </p:sp>
      <p:sp>
        <p:nvSpPr>
          <p:cNvPr id="2" name="">
            <a:extLst xmlns:a="http://schemas.openxmlformats.org/drawingml/2006/main">
              <a:ext uri="{FF2B5EF4-FFF2-40B4-BE49-F238E27FC236}">
                <a16:creationId xmlns:a16="http://schemas.microsoft.com/office/drawing/2014/main" id="{20B5EE04-42E5-43EC-BD55-DE387E223DDC}"/>
              </a:ext>
            </a:extLst>
          </p:cNvPr>
          <p:cNvSpPr>
            <a:spLocks xmlns:a="http://schemas.openxmlformats.org/drawingml/2006/main" noGrp="1"/>
          </p:cNvSpPr>
          <p:nvPr/>
        </p:nvSpPr>
        <p:spPr>
          <a:xfrm xmlns:a="http://schemas.openxmlformats.org/drawingml/2006/main">
            <a:off x="609600" y="866775"/>
            <a:ext cx="108585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22231D"/>
                </a:solidFill>
                <a:latin typeface="Georgia"/>
                <a:ea typeface="Georgia"/>
                <a:cs typeface="Georgia"/>
              </a:defRPr>
            </a:pPr>
            <a:r>
              <a:rPr sz="3375" b="1">
                <a:solidFill>
                  <a:srgbClr val="22231D"/>
                </a:solidFill>
                <a:latin typeface="Georgia"/>
                <a:ea typeface="Georgia"/>
                <a:cs typeface="Georgia"/>
              </a:rPr>
              <a:t>The overlap question</a:t>
            </a:r>
          </a:p>
        </p:txBody>
      </p:sp>
      <p:sp>
        <p:nvSpPr>
          <p:cNvPr id="3" name="">
            <a:extLst xmlns:a="http://schemas.openxmlformats.org/drawingml/2006/main">
              <a:ext uri="{FF2B5EF4-FFF2-40B4-BE49-F238E27FC236}">
                <a16:creationId xmlns:a16="http://schemas.microsoft.com/office/drawing/2014/main" id="{51CB31ED-1C41-43D3-BD68-024A7524E58A}"/>
              </a:ext>
            </a:extLst>
          </p:cNvPr>
          <p:cNvSpPr>
            <a:spLocks xmlns:a="http://schemas.openxmlformats.org/drawingml/2006/main" noGrp="1"/>
          </p:cNvSpPr>
          <p:nvPr/>
        </p:nvSpPr>
        <p:spPr>
          <a:xfrm xmlns:a="http://schemas.openxmlformats.org/drawingml/2006/main">
            <a:off x="11049000" y="61912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686B5E"/>
                </a:solidFill>
                <a:latin typeface="Arial"/>
                <a:ea typeface="Arial"/>
                <a:cs typeface="Arial"/>
              </a:defRPr>
            </a:pPr>
            <a:r>
              <a:rPr sz="1200" b="1">
                <a:solidFill>
                  <a:srgbClr val="686B5E"/>
                </a:solidFill>
                <a:latin typeface="Arial"/>
                <a:ea typeface="Arial"/>
                <a:cs typeface="Arial"/>
              </a:rPr>
              <a:t>08</a:t>
            </a:r>
          </a:p>
        </p:txBody>
      </p:sp>
      <p:sp>
        <p:nvSpPr>
          <p:cNvPr id="4" name="">
            <a:extLst xmlns:a="http://schemas.openxmlformats.org/drawingml/2006/main">
              <a:ext uri="{FF2B5EF4-FFF2-40B4-BE49-F238E27FC236}">
                <a16:creationId xmlns:a16="http://schemas.microsoft.com/office/drawing/2014/main" id="{7C99E720-C6A9-4850-B323-536DE64E5C5A}"/>
              </a:ext>
            </a:extLst>
          </p:cNvPr>
          <p:cNvSpPr>
            <a:spLocks xmlns:a="http://schemas.openxmlformats.org/drawingml/2006/main" noGrp="1"/>
          </p:cNvSpPr>
          <p:nvPr/>
        </p:nvSpPr>
        <p:spPr>
          <a:xfrm xmlns:a="http://schemas.openxmlformats.org/drawingml/2006/main">
            <a:off x="781050" y="2238375"/>
            <a:ext cx="1047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555B34"/>
                </a:solidFill>
                <a:latin typeface="Georgia"/>
                <a:ea typeface="Georgia"/>
                <a:cs typeface="Georgia"/>
              </a:defRPr>
            </a:pPr>
            <a:r>
              <a:rPr sz="2850" b="1">
                <a:solidFill>
                  <a:srgbClr val="555B34"/>
                </a:solidFill>
                <a:latin typeface="Georgia"/>
                <a:ea typeface="Georgia"/>
                <a:cs typeface="Georgia"/>
              </a:rPr>
              <a:t>Owning 10 tickers does not always mean 10 different bets.</a:t>
            </a:r>
          </a:p>
        </p:txBody>
      </p:sp>
      <p:sp>
        <p:nvSpPr>
          <p:cNvPr id="5" name="">
            <a:extLst xmlns:a="http://schemas.openxmlformats.org/drawingml/2006/main">
              <a:ext uri="{FF2B5EF4-FFF2-40B4-BE49-F238E27FC236}">
                <a16:creationId xmlns:a16="http://schemas.microsoft.com/office/drawing/2014/main" id="{078329A3-C04C-4013-9F24-28D8793D53DA}"/>
              </a:ext>
            </a:extLst>
          </p:cNvPr>
          <p:cNvSpPr>
            <a:spLocks xmlns:a="http://schemas.openxmlformats.org/drawingml/2006/main" noGrp="1"/>
          </p:cNvSpPr>
          <p:nvPr/>
        </p:nvSpPr>
        <p:spPr>
          <a:xfrm xmlns:a="http://schemas.openxmlformats.org/drawingml/2006/main">
            <a:off x="781050" y="3667125"/>
            <a:ext cx="10382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22231D"/>
                </a:solidFill>
                <a:latin typeface="Arial"/>
                <a:ea typeface="Arial"/>
                <a:cs typeface="Arial"/>
              </a:defRPr>
            </a:pPr>
            <a:r>
              <a:rPr sz="2250" b="0">
                <a:solidFill>
                  <a:srgbClr val="22231D"/>
                </a:solidFill>
                <a:latin typeface="Arial"/>
                <a:ea typeface="Arial"/>
                <a:cs typeface="Arial"/>
              </a:rPr>
              <a:t>AAPL + MSFT + QQQ may leave you heavily exposed to large technology companies.</a:t>
            </a:r>
          </a:p>
        </p:txBody>
      </p:sp>
      <p:sp>
        <p:nvSpPr>
          <p:cNvPr id="6" name="">
            <a:extLst xmlns:a="http://schemas.openxmlformats.org/drawingml/2006/main">
              <a:ext uri="{FF2B5EF4-FFF2-40B4-BE49-F238E27FC236}">
                <a16:creationId xmlns:a16="http://schemas.microsoft.com/office/drawing/2014/main" id="{0BC6CFD8-B275-4905-97DD-3EC3B48C348E}"/>
              </a:ext>
            </a:extLst>
          </p:cNvPr>
          <p:cNvSpPr>
            <a:spLocks xmlns:a="http://schemas.openxmlformats.org/drawingml/2006/main" noGrp="1"/>
          </p:cNvSpPr>
          <p:nvPr/>
        </p:nvSpPr>
        <p:spPr>
          <a:xfrm xmlns:a="http://schemas.openxmlformats.org/drawingml/2006/main">
            <a:off x="781050" y="5143500"/>
            <a:ext cx="1028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2231D"/>
                </a:solidFill>
                <a:latin typeface="Arial"/>
                <a:ea typeface="Arial"/>
                <a:cs typeface="Arial"/>
              </a:defRPr>
            </a:pPr>
            <a:r>
              <a:rPr sz="2025" b="0">
                <a:solidFill>
                  <a:srgbClr val="22231D"/>
                </a:solidFill>
                <a:latin typeface="Arial"/>
                <a:ea typeface="Arial"/>
                <a:cs typeface="Arial"/>
              </a:rPr>
              <a:t>Look through the ETF to its top holdings and sector weights.</a:t>
            </a:r>
          </a:p>
        </p:txBody>
      </p:sp>
    </p:spTree>
    <p:extLst>
      <p:ext uri="{BB962C8B-B14F-4D97-AF65-F5344CB8AC3E}">
        <p14:creationId xmlns:p14="http://schemas.microsoft.com/office/powerpoint/2010/main" val="67883030"/>
      </p:ext>
    </p:extLst>
  </p:cSld>
</p:sld>
</file>

<file path=ppt/slides/slide9.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C446F48-1527-49F1-A4EA-1AB03A7D2BE6}"/>
              </a:ext>
            </a:extLst>
          </p:cNvPr>
          <p:cNvSpPr>
            <a:spLocks xmlns:a="http://schemas.openxmlformats.org/drawingml/2006/main" noGrp="1"/>
          </p:cNvSpPr>
          <p:nvPr/>
        </p:nvSpPr>
        <p:spPr>
          <a:xfrm xmlns:a="http://schemas.openxmlformats.org/drawingml/2006/main">
            <a:off x="609600" y="32385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555B34"/>
                </a:solidFill>
                <a:latin typeface="Arial"/>
                <a:ea typeface="Arial"/>
                <a:cs typeface="Arial"/>
              </a:defRPr>
            </a:pPr>
            <a:r>
              <a:rPr sz="1275" b="1">
                <a:solidFill>
                  <a:srgbClr val="555B34"/>
                </a:solidFill>
                <a:latin typeface="Arial"/>
                <a:ea typeface="Arial"/>
                <a:cs typeface="Arial"/>
              </a:rPr>
              <a:t>SIMLIFE  /  INVESTING  /  MODULE 3</a:t>
            </a:r>
          </a:p>
        </p:txBody>
      </p:sp>
      <p:sp>
        <p:nvSpPr>
          <p:cNvPr id="2" name="">
            <a:extLst xmlns:a="http://schemas.openxmlformats.org/drawingml/2006/main">
              <a:ext uri="{FF2B5EF4-FFF2-40B4-BE49-F238E27FC236}">
                <a16:creationId xmlns:a16="http://schemas.microsoft.com/office/drawing/2014/main" id="{572F0E86-94D4-4D62-AFE2-37282800C6A7}"/>
              </a:ext>
            </a:extLst>
          </p:cNvPr>
          <p:cNvSpPr>
            <a:spLocks xmlns:a="http://schemas.openxmlformats.org/drawingml/2006/main" noGrp="1"/>
          </p:cNvSpPr>
          <p:nvPr/>
        </p:nvSpPr>
        <p:spPr>
          <a:xfrm xmlns:a="http://schemas.openxmlformats.org/drawingml/2006/main">
            <a:off x="609600" y="866775"/>
            <a:ext cx="108585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22231D"/>
                </a:solidFill>
                <a:latin typeface="Georgia"/>
                <a:ea typeface="Georgia"/>
                <a:cs typeface="Georgia"/>
              </a:defRPr>
            </a:pPr>
            <a:r>
              <a:rPr sz="3375" b="1">
                <a:solidFill>
                  <a:srgbClr val="22231D"/>
                </a:solidFill>
                <a:latin typeface="Georgia"/>
                <a:ea typeface="Georgia"/>
                <a:cs typeface="Georgia"/>
              </a:rPr>
              <a:t>Two goals can call for two funds</a:t>
            </a:r>
          </a:p>
        </p:txBody>
      </p:sp>
      <p:sp>
        <p:nvSpPr>
          <p:cNvPr id="3" name="">
            <a:extLst xmlns:a="http://schemas.openxmlformats.org/drawingml/2006/main">
              <a:ext uri="{FF2B5EF4-FFF2-40B4-BE49-F238E27FC236}">
                <a16:creationId xmlns:a16="http://schemas.microsoft.com/office/drawing/2014/main" id="{3F21456E-0EDD-4BA9-A8BD-E9500A05564F}"/>
              </a:ext>
            </a:extLst>
          </p:cNvPr>
          <p:cNvSpPr>
            <a:spLocks xmlns:a="http://schemas.openxmlformats.org/drawingml/2006/main" noGrp="1"/>
          </p:cNvSpPr>
          <p:nvPr/>
        </p:nvSpPr>
        <p:spPr>
          <a:xfrm xmlns:a="http://schemas.openxmlformats.org/drawingml/2006/main">
            <a:off x="11049000" y="61912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686B5E"/>
                </a:solidFill>
                <a:latin typeface="Arial"/>
                <a:ea typeface="Arial"/>
                <a:cs typeface="Arial"/>
              </a:defRPr>
            </a:pPr>
            <a:r>
              <a:rPr sz="1200" b="1">
                <a:solidFill>
                  <a:srgbClr val="686B5E"/>
                </a:solidFill>
                <a:latin typeface="Arial"/>
                <a:ea typeface="Arial"/>
                <a:cs typeface="Arial"/>
              </a:rPr>
              <a:t>09</a:t>
            </a:r>
          </a:p>
        </p:txBody>
      </p:sp>
      <p:sp>
        <p:nvSpPr>
          <p:cNvPr id="4" name="">
            <a:extLst xmlns:a="http://schemas.openxmlformats.org/drawingml/2006/main">
              <a:ext uri="{FF2B5EF4-FFF2-40B4-BE49-F238E27FC236}">
                <a16:creationId xmlns:a16="http://schemas.microsoft.com/office/drawing/2014/main" id="{6A694108-187B-4801-9E99-035F6F8269C2}"/>
              </a:ext>
            </a:extLst>
          </p:cNvPr>
          <p:cNvSpPr>
            <a:spLocks xmlns:a="http://schemas.openxmlformats.org/drawingml/2006/main" noGrp="1"/>
          </p:cNvSpPr>
          <p:nvPr/>
        </p:nvSpPr>
        <p:spPr>
          <a:xfrm xmlns:a="http://schemas.openxmlformats.org/drawingml/2006/main">
            <a:off x="800100" y="2047875"/>
            <a:ext cx="10382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555B34"/>
                </a:solidFill>
                <a:latin typeface="Arial"/>
                <a:ea typeface="Arial"/>
                <a:cs typeface="Arial"/>
              </a:defRPr>
            </a:pPr>
            <a:r>
              <a:rPr sz="2175" b="1">
                <a:solidFill>
                  <a:srgbClr val="555B34"/>
                </a:solidFill>
                <a:latin typeface="Arial"/>
                <a:ea typeface="Arial"/>
                <a:cs typeface="Arial"/>
              </a:rPr>
              <a:t>Student example: mostly U.S. company stocks</a:t>
            </a:r>
          </a:p>
        </p:txBody>
      </p:sp>
      <p:sp>
        <p:nvSpPr>
          <p:cNvPr id="5" name="">
            <a:extLst xmlns:a="http://schemas.openxmlformats.org/drawingml/2006/main">
              <a:ext uri="{FF2B5EF4-FFF2-40B4-BE49-F238E27FC236}">
                <a16:creationId xmlns:a16="http://schemas.microsoft.com/office/drawing/2014/main" id="{F4172EE8-C593-4685-8D68-5CD9D66EFCB6}"/>
              </a:ext>
            </a:extLst>
          </p:cNvPr>
          <p:cNvSpPr>
            <a:spLocks xmlns:a="http://schemas.openxmlformats.org/drawingml/2006/main" noGrp="1"/>
          </p:cNvSpPr>
          <p:nvPr/>
        </p:nvSpPr>
        <p:spPr>
          <a:xfrm xmlns:a="http://schemas.openxmlformats.org/drawingml/2006/main">
            <a:off x="838200" y="2838450"/>
            <a:ext cx="2000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22231D"/>
                </a:solidFill>
                <a:latin typeface="Georgia"/>
                <a:ea typeface="Georgia"/>
                <a:cs typeface="Georgia"/>
              </a:defRPr>
            </a:pPr>
            <a:r>
              <a:rPr sz="3300" b="1">
                <a:solidFill>
                  <a:srgbClr val="22231D"/>
                </a:solidFill>
                <a:latin typeface="Georgia"/>
                <a:ea typeface="Georgia"/>
                <a:cs typeface="Georgia"/>
              </a:rPr>
              <a:t>VTI</a:t>
            </a:r>
          </a:p>
        </p:txBody>
      </p:sp>
      <p:sp>
        <p:nvSpPr>
          <p:cNvPr id="6" name="">
            <a:extLst xmlns:a="http://schemas.openxmlformats.org/drawingml/2006/main">
              <a:ext uri="{FF2B5EF4-FFF2-40B4-BE49-F238E27FC236}">
                <a16:creationId xmlns:a16="http://schemas.microsoft.com/office/drawing/2014/main" id="{174CBBDF-3662-4E22-B760-7D21E35AE352}"/>
              </a:ext>
            </a:extLst>
          </p:cNvPr>
          <p:cNvSpPr>
            <a:spLocks xmlns:a="http://schemas.openxmlformats.org/drawingml/2006/main" noGrp="1"/>
          </p:cNvSpPr>
          <p:nvPr/>
        </p:nvSpPr>
        <p:spPr>
          <a:xfrm xmlns:a="http://schemas.openxmlformats.org/drawingml/2006/main">
            <a:off x="838200" y="3619500"/>
            <a:ext cx="4286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22231D"/>
                </a:solidFill>
                <a:latin typeface="Arial"/>
                <a:ea typeface="Arial"/>
                <a:cs typeface="Arial"/>
              </a:defRPr>
            </a:pPr>
            <a:r>
              <a:rPr sz="1950" b="0">
                <a:solidFill>
                  <a:srgbClr val="22231D"/>
                </a:solidFill>
                <a:latin typeface="Arial"/>
                <a:ea typeface="Arial"/>
                <a:cs typeface="Arial"/>
              </a:rPr>
              <a:t>Broad U.S. stocks</a:t>
            </a:r>
          </a:p>
          <a:p xmlns:a="http://schemas.openxmlformats.org/drawingml/2006/main">
            <a:pPr>
              <a:defRPr sz="1950" b="0">
                <a:solidFill>
                  <a:srgbClr val="22231D"/>
                </a:solidFill>
                <a:latin typeface="Arial"/>
                <a:ea typeface="Arial"/>
                <a:cs typeface="Arial"/>
              </a:defRPr>
            </a:pPr>
            <a:r>
              <a:rPr sz="1950" b="0">
                <a:solidFill>
                  <a:srgbClr val="22231D"/>
                </a:solidFill>
                <a:latin typeface="Arial"/>
                <a:ea typeface="Arial"/>
                <a:cs typeface="Arial"/>
              </a:rPr>
              <a:t>Adds many companies</a:t>
            </a:r>
          </a:p>
          <a:p xmlns:a="http://schemas.openxmlformats.org/drawingml/2006/main">
            <a:pPr>
              <a:defRPr sz="1950" b="0">
                <a:solidFill>
                  <a:srgbClr val="22231D"/>
                </a:solidFill>
                <a:latin typeface="Arial"/>
                <a:ea typeface="Arial"/>
                <a:cs typeface="Arial"/>
              </a:defRPr>
            </a:pPr>
            <a:r>
              <a:rPr sz="1950" b="0">
                <a:solidFill>
                  <a:srgbClr val="22231D"/>
                </a:solidFill>
                <a:latin typeface="Arial"/>
                <a:ea typeface="Arial"/>
                <a:cs typeface="Arial"/>
              </a:rPr>
              <a:t>Still mostly U.S. stock risk</a:t>
            </a:r>
          </a:p>
        </p:txBody>
      </p:sp>
      <p:sp>
        <p:nvSpPr>
          <p:cNvPr id="7" name="">
            <a:extLst xmlns:a="http://schemas.openxmlformats.org/drawingml/2006/main">
              <a:ext uri="{FF2B5EF4-FFF2-40B4-BE49-F238E27FC236}">
                <a16:creationId xmlns:a16="http://schemas.microsoft.com/office/drawing/2014/main" id="{B87C9781-8E8A-4345-97ED-870CFF431819}"/>
              </a:ext>
            </a:extLst>
          </p:cNvPr>
          <p:cNvSpPr>
            <a:spLocks xmlns:a="http://schemas.openxmlformats.org/drawingml/2006/main" noGrp="1"/>
          </p:cNvSpPr>
          <p:nvPr/>
        </p:nvSpPr>
        <p:spPr>
          <a:xfrm xmlns:a="http://schemas.openxmlformats.org/drawingml/2006/main">
            <a:off x="6429375" y="2838450"/>
            <a:ext cx="295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22231D"/>
                </a:solidFill>
                <a:latin typeface="Georgia"/>
                <a:ea typeface="Georgia"/>
                <a:cs typeface="Georgia"/>
              </a:defRPr>
            </a:pPr>
            <a:r>
              <a:rPr sz="3300" b="1">
                <a:solidFill>
                  <a:srgbClr val="22231D"/>
                </a:solidFill>
                <a:latin typeface="Georgia"/>
                <a:ea typeface="Georgia"/>
                <a:cs typeface="Georgia"/>
              </a:rPr>
              <a:t>VXUS</a:t>
            </a:r>
          </a:p>
        </p:txBody>
      </p:sp>
      <p:sp>
        <p:nvSpPr>
          <p:cNvPr id="8" name="">
            <a:extLst xmlns:a="http://schemas.openxmlformats.org/drawingml/2006/main">
              <a:ext uri="{FF2B5EF4-FFF2-40B4-BE49-F238E27FC236}">
                <a16:creationId xmlns:a16="http://schemas.microsoft.com/office/drawing/2014/main" id="{5DAA1F79-5172-4614-BCB2-870A8D528A61}"/>
              </a:ext>
            </a:extLst>
          </p:cNvPr>
          <p:cNvSpPr>
            <a:spLocks xmlns:a="http://schemas.openxmlformats.org/drawingml/2006/main" noGrp="1"/>
          </p:cNvSpPr>
          <p:nvPr/>
        </p:nvSpPr>
        <p:spPr>
          <a:xfrm xmlns:a="http://schemas.openxmlformats.org/drawingml/2006/main">
            <a:off x="6429375" y="3619500"/>
            <a:ext cx="43815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22231D"/>
                </a:solidFill>
                <a:latin typeface="Arial"/>
                <a:ea typeface="Arial"/>
                <a:cs typeface="Arial"/>
              </a:defRPr>
            </a:pPr>
            <a:r>
              <a:rPr sz="1950" b="0">
                <a:solidFill>
                  <a:srgbClr val="22231D"/>
                </a:solidFill>
                <a:latin typeface="Arial"/>
                <a:ea typeface="Arial"/>
                <a:cs typeface="Arial"/>
              </a:rPr>
              <a:t>Broad non-U.S. stocks</a:t>
            </a:r>
          </a:p>
          <a:p xmlns:a="http://schemas.openxmlformats.org/drawingml/2006/main">
            <a:pPr>
              <a:defRPr sz="1950" b="0">
                <a:solidFill>
                  <a:srgbClr val="22231D"/>
                </a:solidFill>
                <a:latin typeface="Arial"/>
                <a:ea typeface="Arial"/>
                <a:cs typeface="Arial"/>
              </a:defRPr>
            </a:pPr>
            <a:r>
              <a:rPr sz="1950" b="0">
                <a:solidFill>
                  <a:srgbClr val="22231D"/>
                </a:solidFill>
                <a:latin typeface="Arial"/>
                <a:ea typeface="Arial"/>
                <a:cs typeface="Arial"/>
              </a:rPr>
              <a:t>Adds geographic exposure</a:t>
            </a:r>
          </a:p>
          <a:p xmlns:a="http://schemas.openxmlformats.org/drawingml/2006/main">
            <a:pPr>
              <a:defRPr sz="1950" b="0">
                <a:solidFill>
                  <a:srgbClr val="22231D"/>
                </a:solidFill>
                <a:latin typeface="Arial"/>
                <a:ea typeface="Arial"/>
                <a:cs typeface="Arial"/>
              </a:defRPr>
            </a:pPr>
            <a:r>
              <a:rPr sz="1950" b="0">
                <a:solidFill>
                  <a:srgbClr val="22231D"/>
                </a:solidFill>
                <a:latin typeface="Arial"/>
                <a:ea typeface="Arial"/>
                <a:cs typeface="Arial"/>
              </a:rPr>
              <a:t>Still stock market risk</a:t>
            </a:r>
          </a:p>
        </p:txBody>
      </p:sp>
    </p:spTree>
    <p:extLst>
      <p:ext uri="{BB962C8B-B14F-4D97-AF65-F5344CB8AC3E}">
        <p14:creationId xmlns:p14="http://schemas.microsoft.com/office/powerpoint/2010/main" val="1181893355"/>
      </p:ext>
    </p:extLst>
  </p:cSld>
</p:sld>
</file>

<file path=ppt/slides/slide10.xml><?xml version="1.0" encoding="utf-8"?>
<p:sld xmlns:p="http://schemas.openxmlformats.org/presentationml/2006/main">
  <p:cSld>
    <p:bg>
      <p:bgPr>
        <a:solidFill xmlns:a="http://schemas.openxmlformats.org/drawingml/2006/main">
          <a:srgbClr val="555B34"/>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C5CCD9C-2C3F-4241-901A-02303AEC2D95}"/>
              </a:ext>
            </a:extLst>
          </p:cNvPr>
          <p:cNvSpPr>
            <a:spLocks xmlns:a="http://schemas.openxmlformats.org/drawingml/2006/main" noGrp="1"/>
          </p:cNvSpPr>
          <p:nvPr/>
        </p:nvSpPr>
        <p:spPr>
          <a:xfrm xmlns:a="http://schemas.openxmlformats.org/drawingml/2006/main">
            <a:off x="609600" y="32385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E8EBDF"/>
                </a:solidFill>
                <a:latin typeface="Arial"/>
                <a:ea typeface="Arial"/>
                <a:cs typeface="Arial"/>
              </a:defRPr>
            </a:pPr>
            <a:r>
              <a:rPr sz="1275" b="1">
                <a:solidFill>
                  <a:srgbClr val="E8EBDF"/>
                </a:solidFill>
                <a:latin typeface="Arial"/>
                <a:ea typeface="Arial"/>
                <a:cs typeface="Arial"/>
              </a:rPr>
              <a:t>SIMLIFE  /  INVESTING  /  MODULE 3</a:t>
            </a:r>
          </a:p>
        </p:txBody>
      </p:sp>
      <p:sp>
        <p:nvSpPr>
          <p:cNvPr id="2" name="">
            <a:extLst xmlns:a="http://schemas.openxmlformats.org/drawingml/2006/main">
              <a:ext uri="{FF2B5EF4-FFF2-40B4-BE49-F238E27FC236}">
                <a16:creationId xmlns:a16="http://schemas.microsoft.com/office/drawing/2014/main" id="{C120D794-C6CE-49AD-982B-17B2C5AD20D7}"/>
              </a:ext>
            </a:extLst>
          </p:cNvPr>
          <p:cNvSpPr>
            <a:spLocks xmlns:a="http://schemas.openxmlformats.org/drawingml/2006/main" noGrp="1"/>
          </p:cNvSpPr>
          <p:nvPr/>
        </p:nvSpPr>
        <p:spPr>
          <a:xfrm xmlns:a="http://schemas.openxmlformats.org/drawingml/2006/main">
            <a:off x="609600" y="866775"/>
            <a:ext cx="108585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FFFFFF"/>
                </a:solidFill>
                <a:latin typeface="Georgia"/>
                <a:ea typeface="Georgia"/>
                <a:cs typeface="Georgia"/>
              </a:defRPr>
            </a:pPr>
            <a:r>
              <a:rPr sz="3375" b="1">
                <a:solidFill>
                  <a:srgbClr val="FFFFFF"/>
                </a:solidFill>
                <a:latin typeface="Georgia"/>
                <a:ea typeface="Georgia"/>
                <a:cs typeface="Georgia"/>
              </a:rPr>
              <a:t>Module 3 assignment</a:t>
            </a:r>
          </a:p>
        </p:txBody>
      </p:sp>
      <p:sp>
        <p:nvSpPr>
          <p:cNvPr id="3" name="">
            <a:extLst xmlns:a="http://schemas.openxmlformats.org/drawingml/2006/main">
              <a:ext uri="{FF2B5EF4-FFF2-40B4-BE49-F238E27FC236}">
                <a16:creationId xmlns:a16="http://schemas.microsoft.com/office/drawing/2014/main" id="{EFBD91FD-1395-46EC-8D36-B7F4965F4442}"/>
              </a:ext>
            </a:extLst>
          </p:cNvPr>
          <p:cNvSpPr>
            <a:spLocks xmlns:a="http://schemas.openxmlformats.org/drawingml/2006/main" noGrp="1"/>
          </p:cNvSpPr>
          <p:nvPr/>
        </p:nvSpPr>
        <p:spPr>
          <a:xfrm xmlns:a="http://schemas.openxmlformats.org/drawingml/2006/main">
            <a:off x="11049000" y="61912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8EBDF"/>
                </a:solidFill>
                <a:latin typeface="Arial"/>
                <a:ea typeface="Arial"/>
                <a:cs typeface="Arial"/>
              </a:defRPr>
            </a:pPr>
            <a:r>
              <a:rPr sz="1200" b="1">
                <a:solidFill>
                  <a:srgbClr val="E8EBDF"/>
                </a:solidFill>
                <a:latin typeface="Arial"/>
                <a:ea typeface="Arial"/>
                <a:cs typeface="Arial"/>
              </a:rPr>
              <a:t>10</a:t>
            </a:r>
          </a:p>
        </p:txBody>
      </p:sp>
      <p:sp>
        <p:nvSpPr>
          <p:cNvPr id="4" name="">
            <a:extLst xmlns:a="http://schemas.openxmlformats.org/drawingml/2006/main">
              <a:ext uri="{FF2B5EF4-FFF2-40B4-BE49-F238E27FC236}">
                <a16:creationId xmlns:a16="http://schemas.microsoft.com/office/drawing/2014/main" id="{A520B61A-AA83-48EB-861C-2071450F45D5}"/>
              </a:ext>
            </a:extLst>
          </p:cNvPr>
          <p:cNvSpPr>
            <a:spLocks xmlns:a="http://schemas.openxmlformats.org/drawingml/2006/main" noGrp="1"/>
          </p:cNvSpPr>
          <p:nvPr/>
        </p:nvSpPr>
        <p:spPr>
          <a:xfrm xmlns:a="http://schemas.openxmlformats.org/drawingml/2006/main">
            <a:off x="781050" y="2143125"/>
            <a:ext cx="10477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FFFFF"/>
                </a:solidFill>
                <a:latin typeface="Arial"/>
                <a:ea typeface="Arial"/>
                <a:cs typeface="Arial"/>
              </a:defRPr>
            </a:pPr>
            <a:r>
              <a:rPr sz="2175" b="0">
                <a:solidFill>
                  <a:srgbClr val="FFFFFF"/>
                </a:solidFill>
                <a:latin typeface="Arial"/>
                <a:ea typeface="Arial"/>
                <a:cs typeface="Arial"/>
              </a:rPr>
              <a:t>Find an area with little exposure; hold an ETF to fill it.</a:t>
            </a:r>
          </a:p>
        </p:txBody>
      </p:sp>
      <p:sp>
        <p:nvSpPr>
          <p:cNvPr id="5" name="">
            <a:extLst xmlns:a="http://schemas.openxmlformats.org/drawingml/2006/main">
              <a:ext uri="{FF2B5EF4-FFF2-40B4-BE49-F238E27FC236}">
                <a16:creationId xmlns:a16="http://schemas.microsoft.com/office/drawing/2014/main" id="{0B7098A9-F000-453D-B270-3B14C097DDEF}"/>
              </a:ext>
            </a:extLst>
          </p:cNvPr>
          <p:cNvSpPr>
            <a:spLocks xmlns:a="http://schemas.openxmlformats.org/drawingml/2006/main" noGrp="1"/>
          </p:cNvSpPr>
          <p:nvPr/>
        </p:nvSpPr>
        <p:spPr>
          <a:xfrm xmlns:a="http://schemas.openxmlformats.org/drawingml/2006/main">
            <a:off x="781050" y="3057525"/>
            <a:ext cx="10477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FFFFF"/>
                </a:solidFill>
                <a:latin typeface="Arial"/>
                <a:ea typeface="Arial"/>
                <a:cs typeface="Arial"/>
              </a:defRPr>
            </a:pPr>
            <a:r>
              <a:rPr sz="2175" b="0">
                <a:solidFill>
                  <a:srgbClr val="FFFFFF"/>
                </a:solidFill>
                <a:latin typeface="Arial"/>
                <a:ea typeface="Arial"/>
                <a:cs typeface="Arial"/>
              </a:rPr>
              <a:t>Find a different idea you believe in; hold a second ETF.</a:t>
            </a:r>
          </a:p>
        </p:txBody>
      </p:sp>
      <p:sp>
        <p:nvSpPr>
          <p:cNvPr id="6" name="">
            <a:extLst xmlns:a="http://schemas.openxmlformats.org/drawingml/2006/main">
              <a:ext uri="{FF2B5EF4-FFF2-40B4-BE49-F238E27FC236}">
                <a16:creationId xmlns:a16="http://schemas.microsoft.com/office/drawing/2014/main" id="{198339A1-80A4-4AB2-8BD7-3B6B62BF1FDE}"/>
              </a:ext>
            </a:extLst>
          </p:cNvPr>
          <p:cNvSpPr>
            <a:spLocks xmlns:a="http://schemas.openxmlformats.org/drawingml/2006/main" noGrp="1"/>
          </p:cNvSpPr>
          <p:nvPr/>
        </p:nvSpPr>
        <p:spPr>
          <a:xfrm xmlns:a="http://schemas.openxmlformats.org/drawingml/2006/main">
            <a:off x="781050" y="3971925"/>
            <a:ext cx="10477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FFFFF"/>
                </a:solidFill>
                <a:latin typeface="Arial"/>
                <a:ea typeface="Arial"/>
                <a:cs typeface="Arial"/>
              </a:defRPr>
            </a:pPr>
            <a:r>
              <a:rPr sz="2175" b="0">
                <a:solidFill>
                  <a:srgbClr val="FFFFFF"/>
                </a:solidFill>
                <a:latin typeface="Arial"/>
                <a:ea typeface="Arial"/>
                <a:cs typeface="Arial"/>
              </a:rPr>
              <a:t>Explain how each fund serves its goal.</a:t>
            </a:r>
          </a:p>
        </p:txBody>
      </p:sp>
      <p:sp>
        <p:nvSpPr>
          <p:cNvPr id="7" name="">
            <a:extLst xmlns:a="http://schemas.openxmlformats.org/drawingml/2006/main">
              <a:ext uri="{FF2B5EF4-FFF2-40B4-BE49-F238E27FC236}">
                <a16:creationId xmlns:a16="http://schemas.microsoft.com/office/drawing/2014/main" id="{5E472AF8-78FF-4A03-8CF3-F805D79AC87C}"/>
              </a:ext>
            </a:extLst>
          </p:cNvPr>
          <p:cNvSpPr>
            <a:spLocks xmlns:a="http://schemas.openxmlformats.org/drawingml/2006/main" noGrp="1"/>
          </p:cNvSpPr>
          <p:nvPr/>
        </p:nvSpPr>
        <p:spPr>
          <a:xfrm xmlns:a="http://schemas.openxmlformats.org/drawingml/2006/main">
            <a:off x="781050" y="4886325"/>
            <a:ext cx="10477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FFFFF"/>
                </a:solidFill>
                <a:latin typeface="Arial"/>
                <a:ea typeface="Arial"/>
                <a:cs typeface="Arial"/>
              </a:defRPr>
            </a:pPr>
            <a:r>
              <a:rPr sz="2175" b="0">
                <a:solidFill>
                  <a:srgbClr val="FFFFFF"/>
                </a:solidFill>
                <a:latin typeface="Arial"/>
                <a:ea typeface="Arial"/>
                <a:cs typeface="Arial"/>
              </a:rPr>
              <a:t>Check both funds’ holdings, overlap, fees, and risks.</a:t>
            </a:r>
          </a:p>
        </p:txBody>
      </p:sp>
    </p:spTree>
    <p:extLst>
      <p:ext uri="{BB962C8B-B14F-4D97-AF65-F5344CB8AC3E}">
        <p14:creationId xmlns:p14="http://schemas.microsoft.com/office/powerpoint/2010/main" val="1523284784"/>
      </p:ext>
    </p:extLst>
  </p:cSld>
</p:sld>
</file>

<file path=ppt/slides/slide11.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9AEE6A04-98CB-4CC1-B0D6-9F3F724F45F5}"/>
              </a:ext>
            </a:extLst>
          </p:cNvPr>
          <p:cNvSpPr>
            <a:spLocks xmlns:a="http://schemas.openxmlformats.org/drawingml/2006/main" noGrp="1"/>
          </p:cNvSpPr>
          <p:nvPr/>
        </p:nvSpPr>
        <p:spPr>
          <a:xfrm xmlns:a="http://schemas.openxmlformats.org/drawingml/2006/main">
            <a:off x="609600" y="32385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555B34"/>
                </a:solidFill>
                <a:latin typeface="Arial"/>
                <a:ea typeface="Arial"/>
                <a:cs typeface="Arial"/>
              </a:defRPr>
            </a:pPr>
            <a:r>
              <a:rPr sz="1275" b="1">
                <a:solidFill>
                  <a:srgbClr val="555B34"/>
                </a:solidFill>
                <a:latin typeface="Arial"/>
                <a:ea typeface="Arial"/>
                <a:cs typeface="Arial"/>
              </a:rPr>
              <a:t>SIMLIFE  /  INVESTING  /  MODULE 3</a:t>
            </a:r>
          </a:p>
        </p:txBody>
      </p:sp>
      <p:sp>
        <p:nvSpPr>
          <p:cNvPr id="2" name="">
            <a:extLst xmlns:a="http://schemas.openxmlformats.org/drawingml/2006/main">
              <a:ext uri="{FF2B5EF4-FFF2-40B4-BE49-F238E27FC236}">
                <a16:creationId xmlns:a16="http://schemas.microsoft.com/office/drawing/2014/main" id="{20560128-69C8-4995-B833-C68C47544792}"/>
              </a:ext>
            </a:extLst>
          </p:cNvPr>
          <p:cNvSpPr>
            <a:spLocks xmlns:a="http://schemas.openxmlformats.org/drawingml/2006/main" noGrp="1"/>
          </p:cNvSpPr>
          <p:nvPr/>
        </p:nvSpPr>
        <p:spPr>
          <a:xfrm xmlns:a="http://schemas.openxmlformats.org/drawingml/2006/main">
            <a:off x="609600" y="866775"/>
            <a:ext cx="108585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22231D"/>
                </a:solidFill>
                <a:latin typeface="Georgia"/>
                <a:ea typeface="Georgia"/>
                <a:cs typeface="Georgia"/>
              </a:defRPr>
            </a:pPr>
            <a:r>
              <a:rPr sz="3375" b="1">
                <a:solidFill>
                  <a:srgbClr val="22231D"/>
                </a:solidFill>
                <a:latin typeface="Georgia"/>
                <a:ea typeface="Georgia"/>
                <a:cs typeface="Georgia"/>
              </a:rPr>
              <a:t>What a strong explanation sounds like</a:t>
            </a:r>
          </a:p>
        </p:txBody>
      </p:sp>
      <p:sp>
        <p:nvSpPr>
          <p:cNvPr id="3" name="">
            <a:extLst xmlns:a="http://schemas.openxmlformats.org/drawingml/2006/main">
              <a:ext uri="{FF2B5EF4-FFF2-40B4-BE49-F238E27FC236}">
                <a16:creationId xmlns:a16="http://schemas.microsoft.com/office/drawing/2014/main" id="{C567F285-CB71-4D59-BC8E-DA6177C3032E}"/>
              </a:ext>
            </a:extLst>
          </p:cNvPr>
          <p:cNvSpPr>
            <a:spLocks xmlns:a="http://schemas.openxmlformats.org/drawingml/2006/main" noGrp="1"/>
          </p:cNvSpPr>
          <p:nvPr/>
        </p:nvSpPr>
        <p:spPr>
          <a:xfrm xmlns:a="http://schemas.openxmlformats.org/drawingml/2006/main">
            <a:off x="11049000" y="61912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686B5E"/>
                </a:solidFill>
                <a:latin typeface="Arial"/>
                <a:ea typeface="Arial"/>
                <a:cs typeface="Arial"/>
              </a:defRPr>
            </a:pPr>
            <a:r>
              <a:rPr sz="1200" b="1">
                <a:solidFill>
                  <a:srgbClr val="686B5E"/>
                </a:solidFill>
                <a:latin typeface="Arial"/>
                <a:ea typeface="Arial"/>
                <a:cs typeface="Arial"/>
              </a:rPr>
              <a:t>11</a:t>
            </a:r>
          </a:p>
        </p:txBody>
      </p:sp>
      <p:sp>
        <p:nvSpPr>
          <p:cNvPr id="4" name="">
            <a:extLst xmlns:a="http://schemas.openxmlformats.org/drawingml/2006/main">
              <a:ext uri="{FF2B5EF4-FFF2-40B4-BE49-F238E27FC236}">
                <a16:creationId xmlns:a16="http://schemas.microsoft.com/office/drawing/2014/main" id="{D5221E81-D6EA-4559-BBD3-283C88A6AEB6}"/>
              </a:ext>
            </a:extLst>
          </p:cNvPr>
          <p:cNvSpPr>
            <a:spLocks xmlns:a="http://schemas.openxmlformats.org/drawingml/2006/main" noGrp="1"/>
          </p:cNvSpPr>
          <p:nvPr/>
        </p:nvSpPr>
        <p:spPr>
          <a:xfrm xmlns:a="http://schemas.openxmlformats.org/drawingml/2006/main">
            <a:off x="838200" y="2095500"/>
            <a:ext cx="10382250" cy="3476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22231D"/>
                </a:solidFill>
                <a:latin typeface="Arial"/>
                <a:ea typeface="Arial"/>
                <a:cs typeface="Arial"/>
              </a:defRPr>
            </a:pPr>
            <a:r>
              <a:rPr sz="2250" b="0">
                <a:solidFill>
                  <a:srgbClr val="22231D"/>
                </a:solidFill>
                <a:latin typeface="Arial"/>
                <a:ea typeface="Arial"/>
                <a:cs typeface="Arial"/>
              </a:rPr>
              <a:t>“I own mostly U.S. stocks, so VXUS adds companies outside the U.S. That fills a geographic gap, though global stocks can still fall. I also want a bigger technology position, so XLK adds technology companies. It overlaps with stocks I own, and a tech downturn would hurt both.”</a:t>
            </a:r>
          </a:p>
        </p:txBody>
      </p:sp>
    </p:spTree>
    <p:extLst>
      <p:ext uri="{BB962C8B-B14F-4D97-AF65-F5344CB8AC3E}">
        <p14:creationId xmlns:p14="http://schemas.microsoft.com/office/powerpoint/2010/main" val="1799184110"/>
      </p:ext>
    </p:extLst>
  </p:cSld>
</p:sld>
</file>

<file path=ppt/slides/slide12.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E8AECB4-5771-460B-AD14-142A91FE81CF}"/>
              </a:ext>
            </a:extLst>
          </p:cNvPr>
          <p:cNvSpPr>
            <a:spLocks xmlns:a="http://schemas.openxmlformats.org/drawingml/2006/main" noGrp="1"/>
          </p:cNvSpPr>
          <p:nvPr/>
        </p:nvSpPr>
        <p:spPr>
          <a:xfrm xmlns:a="http://schemas.openxmlformats.org/drawingml/2006/main">
            <a:off x="609600" y="32385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555B34"/>
                </a:solidFill>
                <a:latin typeface="Arial"/>
                <a:ea typeface="Arial"/>
                <a:cs typeface="Arial"/>
              </a:defRPr>
            </a:pPr>
            <a:r>
              <a:rPr sz="1275" b="1">
                <a:solidFill>
                  <a:srgbClr val="555B34"/>
                </a:solidFill>
                <a:latin typeface="Arial"/>
                <a:ea typeface="Arial"/>
                <a:cs typeface="Arial"/>
              </a:rPr>
              <a:t>SIMLIFE  /  INVESTING  /  MODULE 3</a:t>
            </a:r>
          </a:p>
        </p:txBody>
      </p:sp>
      <p:sp>
        <p:nvSpPr>
          <p:cNvPr id="2" name="">
            <a:extLst xmlns:a="http://schemas.openxmlformats.org/drawingml/2006/main">
              <a:ext uri="{FF2B5EF4-FFF2-40B4-BE49-F238E27FC236}">
                <a16:creationId xmlns:a16="http://schemas.microsoft.com/office/drawing/2014/main" id="{F3F60BBD-4631-412B-981D-D016E14A1BBD}"/>
              </a:ext>
            </a:extLst>
          </p:cNvPr>
          <p:cNvSpPr>
            <a:spLocks xmlns:a="http://schemas.openxmlformats.org/drawingml/2006/main" noGrp="1"/>
          </p:cNvSpPr>
          <p:nvPr/>
        </p:nvSpPr>
        <p:spPr>
          <a:xfrm xmlns:a="http://schemas.openxmlformats.org/drawingml/2006/main">
            <a:off x="609600" y="866775"/>
            <a:ext cx="108585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22231D"/>
                </a:solidFill>
                <a:latin typeface="Georgia"/>
                <a:ea typeface="Georgia"/>
                <a:cs typeface="Georgia"/>
              </a:defRPr>
            </a:pPr>
            <a:r>
              <a:rPr sz="3375" b="1">
                <a:solidFill>
                  <a:srgbClr val="22231D"/>
                </a:solidFill>
                <a:latin typeface="Georgia"/>
                <a:ea typeface="Georgia"/>
                <a:cs typeface="Georgia"/>
              </a:rPr>
              <a:t>Exit ticket</a:t>
            </a:r>
          </a:p>
        </p:txBody>
      </p:sp>
      <p:sp>
        <p:nvSpPr>
          <p:cNvPr id="3" name="">
            <a:extLst xmlns:a="http://schemas.openxmlformats.org/drawingml/2006/main">
              <a:ext uri="{FF2B5EF4-FFF2-40B4-BE49-F238E27FC236}">
                <a16:creationId xmlns:a16="http://schemas.microsoft.com/office/drawing/2014/main" id="{BF518746-092E-4DA5-8E36-E6C8EAC02DE8}"/>
              </a:ext>
            </a:extLst>
          </p:cNvPr>
          <p:cNvSpPr>
            <a:spLocks xmlns:a="http://schemas.openxmlformats.org/drawingml/2006/main" noGrp="1"/>
          </p:cNvSpPr>
          <p:nvPr/>
        </p:nvSpPr>
        <p:spPr>
          <a:xfrm xmlns:a="http://schemas.openxmlformats.org/drawingml/2006/main">
            <a:off x="11049000" y="61912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686B5E"/>
                </a:solidFill>
                <a:latin typeface="Arial"/>
                <a:ea typeface="Arial"/>
                <a:cs typeface="Arial"/>
              </a:defRPr>
            </a:pPr>
            <a:r>
              <a:rPr sz="1200" b="1">
                <a:solidFill>
                  <a:srgbClr val="686B5E"/>
                </a:solidFill>
                <a:latin typeface="Arial"/>
                <a:ea typeface="Arial"/>
                <a:cs typeface="Arial"/>
              </a:rPr>
              <a:t>12</a:t>
            </a:r>
          </a:p>
        </p:txBody>
      </p:sp>
      <p:sp>
        <p:nvSpPr>
          <p:cNvPr id="4" name="">
            <a:extLst xmlns:a="http://schemas.openxmlformats.org/drawingml/2006/main">
              <a:ext uri="{FF2B5EF4-FFF2-40B4-BE49-F238E27FC236}">
                <a16:creationId xmlns:a16="http://schemas.microsoft.com/office/drawing/2014/main" id="{94FC5986-78F1-4794-9E3D-E54541B24584}"/>
              </a:ext>
            </a:extLst>
          </p:cNvPr>
          <p:cNvSpPr>
            <a:spLocks xmlns:a="http://schemas.openxmlformats.org/drawingml/2006/main" noGrp="1"/>
          </p:cNvSpPr>
          <p:nvPr/>
        </p:nvSpPr>
        <p:spPr>
          <a:xfrm xmlns:a="http://schemas.openxmlformats.org/drawingml/2006/main">
            <a:off x="781050" y="2143125"/>
            <a:ext cx="10477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22231D"/>
                </a:solidFill>
                <a:latin typeface="Arial"/>
                <a:ea typeface="Arial"/>
                <a:cs typeface="Arial"/>
              </a:defRPr>
            </a:pPr>
            <a:r>
              <a:rPr sz="2400" b="0">
                <a:solidFill>
                  <a:srgbClr val="22231D"/>
                </a:solidFill>
                <a:latin typeface="Arial"/>
                <a:ea typeface="Arial"/>
                <a:cs typeface="Arial"/>
              </a:rPr>
              <a:t>Where do you have little or no exposure?</a:t>
            </a:r>
          </a:p>
        </p:txBody>
      </p:sp>
      <p:sp>
        <p:nvSpPr>
          <p:cNvPr id="5" name="">
            <a:extLst xmlns:a="http://schemas.openxmlformats.org/drawingml/2006/main">
              <a:ext uri="{FF2B5EF4-FFF2-40B4-BE49-F238E27FC236}">
                <a16:creationId xmlns:a16="http://schemas.microsoft.com/office/drawing/2014/main" id="{5AF01A84-4A98-4267-939C-656B5F2959BE}"/>
              </a:ext>
            </a:extLst>
          </p:cNvPr>
          <p:cNvSpPr>
            <a:spLocks xmlns:a="http://schemas.openxmlformats.org/drawingml/2006/main" noGrp="1"/>
          </p:cNvSpPr>
          <p:nvPr/>
        </p:nvSpPr>
        <p:spPr>
          <a:xfrm xmlns:a="http://schemas.openxmlformats.org/drawingml/2006/main">
            <a:off x="781050" y="3238500"/>
            <a:ext cx="10477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22231D"/>
                </a:solidFill>
                <a:latin typeface="Arial"/>
                <a:ea typeface="Arial"/>
                <a:cs typeface="Arial"/>
              </a:defRPr>
            </a:pPr>
            <a:r>
              <a:rPr sz="2400" b="0">
                <a:solidFill>
                  <a:srgbClr val="22231D"/>
                </a:solidFill>
                <a:latin typeface="Arial"/>
                <a:ea typeface="Arial"/>
                <a:cs typeface="Arial"/>
              </a:rPr>
              <a:t>Which different area do you want to bet bigger on?</a:t>
            </a:r>
          </a:p>
        </p:txBody>
      </p:sp>
      <p:sp>
        <p:nvSpPr>
          <p:cNvPr id="6" name="">
            <a:extLst xmlns:a="http://schemas.openxmlformats.org/drawingml/2006/main">
              <a:ext uri="{FF2B5EF4-FFF2-40B4-BE49-F238E27FC236}">
                <a16:creationId xmlns:a16="http://schemas.microsoft.com/office/drawing/2014/main" id="{A8B42FAD-06EA-42BC-B089-A2E617B60CDE}"/>
              </a:ext>
            </a:extLst>
          </p:cNvPr>
          <p:cNvSpPr>
            <a:spLocks xmlns:a="http://schemas.openxmlformats.org/drawingml/2006/main" noGrp="1"/>
          </p:cNvSpPr>
          <p:nvPr/>
        </p:nvSpPr>
        <p:spPr>
          <a:xfrm xmlns:a="http://schemas.openxmlformats.org/drawingml/2006/main">
            <a:off x="781050" y="4333875"/>
            <a:ext cx="10477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22231D"/>
                </a:solidFill>
                <a:latin typeface="Arial"/>
                <a:ea typeface="Arial"/>
                <a:cs typeface="Arial"/>
              </a:defRPr>
            </a:pPr>
            <a:r>
              <a:rPr sz="2400" b="0">
                <a:solidFill>
                  <a:srgbClr val="22231D"/>
                </a:solidFill>
                <a:latin typeface="Arial"/>
                <a:ea typeface="Arial"/>
                <a:cs typeface="Arial"/>
              </a:rPr>
              <a:t>Which two ETFs fit those goals, and what risks remain?</a:t>
            </a:r>
          </a:p>
        </p:txBody>
      </p:sp>
      <p:sp>
        <p:nvSpPr>
          <p:cNvPr id="7" name="">
            <a:extLst xmlns:a="http://schemas.openxmlformats.org/drawingml/2006/main">
              <a:ext uri="{FF2B5EF4-FFF2-40B4-BE49-F238E27FC236}">
                <a16:creationId xmlns:a16="http://schemas.microsoft.com/office/drawing/2014/main" id="{9AE547A6-41C1-45F5-9B2E-281E030350CC}"/>
              </a:ext>
            </a:extLst>
          </p:cNvPr>
          <p:cNvSpPr>
            <a:spLocks xmlns:a="http://schemas.openxmlformats.org/drawingml/2006/main" noGrp="1"/>
          </p:cNvSpPr>
          <p:nvPr/>
        </p:nvSpPr>
        <p:spPr>
          <a:xfrm xmlns:a="http://schemas.openxmlformats.org/drawingml/2006/main">
            <a:off x="781050" y="5857875"/>
            <a:ext cx="10477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555B34"/>
                </a:solidFill>
                <a:latin typeface="Arial"/>
                <a:ea typeface="Arial"/>
                <a:cs typeface="Arial"/>
              </a:defRPr>
            </a:pPr>
            <a:r>
              <a:rPr sz="1650" b="1">
                <a:solidFill>
                  <a:srgbClr val="555B34"/>
                </a:solidFill>
                <a:latin typeface="Arial"/>
                <a:ea typeface="Arial"/>
                <a:cs typeface="Arial"/>
              </a:rPr>
              <a:t>Next: open Investing, research both funds, then begin Module 3.</a:t>
            </a:r>
          </a:p>
        </p:txBody>
      </p:sp>
    </p:spTree>
    <p:extLst>
      <p:ext uri="{BB962C8B-B14F-4D97-AF65-F5344CB8AC3E}">
        <p14:creationId xmlns:p14="http://schemas.microsoft.com/office/powerpoint/2010/main" val="201366542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2026-09-29T01:23:31.2510000Z</dcterms:created>
  <dcterms:modified xsi:type="dcterms:W3CDTF">2026-09-29T01:23:31.2510000Z</dcterms:modified>
</coreProperties>
</file>